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28600" cy="5143500"/>
          </a:xfrm>
          <a:prstGeom prst="rect">
            <a:avLst/>
          </a:prstGeom>
          <a:solidFill>
            <a:srgbClr val="1F3A5F"/>
          </a:solidFill>
          <a:ln w="12700">
            <a:solidFill>
              <a:srgbClr val="1F3A5F"/>
            </a:solidFill>
            <a:prstDash val="solid"/>
          </a:ln>
        </p:spPr>
      </p:sp>
      <p:sp>
        <p:nvSpPr>
          <p:cNvPr id="3" name="Text 1"/>
          <p:cNvSpPr txBox="1"/>
          <p:nvPr/>
        </p:nvSpPr>
        <p:spPr>
          <a:xfrm>
            <a:off x="548640" y="365760"/>
            <a:ext cx="8046720" cy="731520"/>
          </a:xfrm>
          <a:prstGeom prst="rect">
            <a:avLst/>
          </a:prstGeom>
          <a:noFill/>
          <a:ln/>
        </p:spPr>
        <p:txBody>
          <a:bodyPr wrap="square" lIns="0" tIns="0" rIns="0" bIns="0" rtlCol="0" anchor="ctr"/>
          <a:lstStyle/>
          <a:p>
            <a:pPr indent="0" marL="0">
              <a:buNone/>
            </a:pPr>
            <a:r>
              <a:rPr lang="en-US" sz="3800" b="1" dirty="0">
                <a:solidFill>
                  <a:srgbClr val="1F3A5F"/>
                </a:solidFill>
                <a:latin typeface="Calibri" pitchFamily="34" charset="0"/>
                <a:ea typeface="Calibri" pitchFamily="34" charset="-122"/>
                <a:cs typeface="Calibri" pitchFamily="34" charset="-120"/>
              </a:rPr>
              <a:t>AI in HR and Talent Management</a:t>
            </a:r>
            <a:endParaRPr lang="en-US" sz="3800" dirty="0"/>
          </a:p>
        </p:txBody>
      </p:sp>
      <p:sp>
        <p:nvSpPr>
          <p:cNvPr id="4" name="Shape 2"/>
          <p:cNvSpPr/>
          <p:nvPr/>
        </p:nvSpPr>
        <p:spPr>
          <a:xfrm>
            <a:off x="548640" y="1143000"/>
            <a:ext cx="1463040" cy="64008"/>
          </a:xfrm>
          <a:prstGeom prst="rect">
            <a:avLst/>
          </a:prstGeom>
          <a:solidFill>
            <a:srgbClr val="2A7F8E"/>
          </a:solidFill>
          <a:ln w="12700">
            <a:solidFill>
              <a:srgbClr val="2A7F8E"/>
            </a:solidFill>
            <a:prstDash val="solid"/>
          </a:ln>
        </p:spPr>
      </p:sp>
      <p:sp>
        <p:nvSpPr>
          <p:cNvPr id="5" name="Text 3"/>
          <p:cNvSpPr txBox="1"/>
          <p:nvPr/>
        </p:nvSpPr>
        <p:spPr>
          <a:xfrm>
            <a:off x="548640" y="1280160"/>
            <a:ext cx="8046720" cy="274320"/>
          </a:xfrm>
          <a:prstGeom prst="rect">
            <a:avLst/>
          </a:prstGeom>
          <a:noFill/>
          <a:ln/>
        </p:spPr>
        <p:txBody>
          <a:bodyPr wrap="square" lIns="0" tIns="0" rIns="0" bIns="0" rtlCol="0" anchor="ctr"/>
          <a:lstStyle/>
          <a:p>
            <a:pPr indent="0" marL="0">
              <a:buNone/>
            </a:pPr>
            <a:r>
              <a:rPr lang="en-US" sz="1400" dirty="0">
                <a:solidFill>
                  <a:srgbClr val="666666"/>
                </a:solidFill>
                <a:latin typeface="Calibri" pitchFamily="34" charset="0"/>
                <a:ea typeface="Calibri" pitchFamily="34" charset="-122"/>
                <a:cs typeface="Calibri" pitchFamily="34" charset="-120"/>
              </a:rPr>
              <a:t>Group 08  |  Introduction to Artificial Intelligence  |  Instructor: Chintan Patel</a:t>
            </a:r>
            <a:endParaRPr lang="en-US" sz="1400" dirty="0"/>
          </a:p>
        </p:txBody>
      </p:sp>
      <p:sp>
        <p:nvSpPr>
          <p:cNvPr id="6" name="Shape 4"/>
          <p:cNvSpPr/>
          <p:nvPr/>
        </p:nvSpPr>
        <p:spPr>
          <a:xfrm>
            <a:off x="548640" y="1783080"/>
            <a:ext cx="8046720" cy="1417320"/>
          </a:xfrm>
          <a:prstGeom prst="rect">
            <a:avLst/>
          </a:prstGeom>
          <a:solidFill>
            <a:srgbClr val="EEF2F7"/>
          </a:solidFill>
          <a:ln w="12700">
            <a:solidFill>
              <a:srgbClr val="EEF2F7"/>
            </a:solidFill>
            <a:prstDash val="solid"/>
          </a:ln>
        </p:spPr>
      </p:sp>
      <p:sp>
        <p:nvSpPr>
          <p:cNvPr id="7" name="Shape 5"/>
          <p:cNvSpPr/>
          <p:nvPr/>
        </p:nvSpPr>
        <p:spPr>
          <a:xfrm>
            <a:off x="548640" y="1783080"/>
            <a:ext cx="91440" cy="1417320"/>
          </a:xfrm>
          <a:prstGeom prst="rect">
            <a:avLst/>
          </a:prstGeom>
          <a:solidFill>
            <a:srgbClr val="2A7F8E"/>
          </a:solidFill>
          <a:ln w="12700">
            <a:solidFill>
              <a:srgbClr val="2A7F8E"/>
            </a:solidFill>
            <a:prstDash val="solid"/>
          </a:ln>
        </p:spPr>
      </p:sp>
      <p:sp>
        <p:nvSpPr>
          <p:cNvPr id="8" name="Text 6"/>
          <p:cNvSpPr txBox="1"/>
          <p:nvPr/>
        </p:nvSpPr>
        <p:spPr>
          <a:xfrm>
            <a:off x="822960" y="1847088"/>
            <a:ext cx="7589520" cy="320040"/>
          </a:xfrm>
          <a:prstGeom prst="rect">
            <a:avLst/>
          </a:prstGeom>
          <a:noFill/>
          <a:ln/>
        </p:spPr>
        <p:txBody>
          <a:bodyPr wrap="square" lIns="0" tIns="0" rIns="0" bIns="0" rtlCol="0" anchor="ctr"/>
          <a:lstStyle/>
          <a:p>
            <a:pPr indent="0" marL="0">
              <a:buNone/>
            </a:pPr>
            <a:r>
              <a:rPr lang="en-US" sz="1800" b="1" dirty="0">
                <a:solidFill>
                  <a:srgbClr val="1F3A5F"/>
                </a:solidFill>
                <a:latin typeface="Calibri" pitchFamily="34" charset="0"/>
                <a:ea typeface="Calibri" pitchFamily="34" charset="-122"/>
                <a:cs typeface="Calibri" pitchFamily="34" charset="-120"/>
              </a:rPr>
              <a:t>Our Problem Statement</a:t>
            </a:r>
            <a:endParaRPr lang="en-US" sz="1800" dirty="0"/>
          </a:p>
        </p:txBody>
      </p:sp>
      <p:sp>
        <p:nvSpPr>
          <p:cNvPr id="9" name="Text 7"/>
          <p:cNvSpPr txBox="1"/>
          <p:nvPr/>
        </p:nvSpPr>
        <p:spPr>
          <a:xfrm>
            <a:off x="822960" y="2194560"/>
            <a:ext cx="7589520" cy="960120"/>
          </a:xfrm>
          <a:prstGeom prst="rect">
            <a:avLst/>
          </a:prstGeom>
          <a:noFill/>
          <a:ln/>
        </p:spPr>
        <p:txBody>
          <a:bodyPr wrap="square" lIns="0" tIns="0" rIns="0" bIns="0" rtlCol="0" anchor="t"/>
          <a:lstStyle/>
          <a:p>
            <a:pPr indent="0" marL="0">
              <a:buNone/>
            </a:pPr>
            <a:r>
              <a:rPr lang="en-US" sz="1500" dirty="0">
                <a:solidFill>
                  <a:srgbClr val="222222"/>
                </a:solidFill>
                <a:latin typeface="Calibri" pitchFamily="34" charset="0"/>
                <a:ea typeface="Calibri" pitchFamily="34" charset="-122"/>
                <a:cs typeface="Calibri" pitchFamily="34" charset="-120"/>
              </a:rPr>
              <a:t>A large Indian IT company wants to reduce employee turnover, improve hiring quality and improve employee engagement. We need to create an AI strategy for unbiased recruitment, attrition prediction (finding who may leave) and personalised employee development.</a:t>
            </a:r>
            <a:endParaRPr lang="en-US" sz="1500" dirty="0"/>
          </a:p>
        </p:txBody>
      </p:sp>
      <p:sp>
        <p:nvSpPr>
          <p:cNvPr id="10" name="Text 8"/>
          <p:cNvSpPr txBox="1"/>
          <p:nvPr/>
        </p:nvSpPr>
        <p:spPr>
          <a:xfrm>
            <a:off x="548640" y="3429000"/>
            <a:ext cx="8046720" cy="320040"/>
          </a:xfrm>
          <a:prstGeom prst="rect">
            <a:avLst/>
          </a:prstGeom>
          <a:noFill/>
          <a:ln/>
        </p:spPr>
        <p:txBody>
          <a:bodyPr wrap="square" lIns="0" tIns="0" rIns="0" bIns="0" rtlCol="0" anchor="ctr"/>
          <a:lstStyle/>
          <a:p>
            <a:pPr indent="0" marL="0">
              <a:buNone/>
            </a:pPr>
            <a:r>
              <a:rPr lang="en-US" sz="1800" b="1" dirty="0">
                <a:solidFill>
                  <a:srgbClr val="1F3A5F"/>
                </a:solidFill>
                <a:latin typeface="Calibri" pitchFamily="34" charset="0"/>
                <a:ea typeface="Calibri" pitchFamily="34" charset="-122"/>
                <a:cs typeface="Calibri" pitchFamily="34" charset="-120"/>
              </a:rPr>
              <a:t>Group Members</a:t>
            </a:r>
            <a:endParaRPr lang="en-US" sz="1800" dirty="0"/>
          </a:p>
        </p:txBody>
      </p:sp>
      <p:sp>
        <p:nvSpPr>
          <p:cNvPr id="11" name="Text 9"/>
          <p:cNvSpPr txBox="1"/>
          <p:nvPr/>
        </p:nvSpPr>
        <p:spPr>
          <a:xfrm>
            <a:off x="548640" y="3840480"/>
            <a:ext cx="1499616" cy="502920"/>
          </a:xfrm>
          <a:prstGeom prst="roundRect">
            <a:avLst>
              <a:gd name="adj" fmla="val 14545"/>
            </a:avLst>
          </a:prstGeom>
          <a:solidFill>
            <a:srgbClr val="FFFFFF"/>
          </a:solidFill>
          <a:ln w="12700">
            <a:solidFill>
              <a:srgbClr val="1F3A5F"/>
            </a:solidFill>
          </a:ln>
        </p:spPr>
        <p:txBody>
          <a:bodyPr wrap="square" lIns="381" tIns="381" rIns="381" bIns="381" rtlCol="0" anchor="ctr"/>
          <a:lstStyle/>
          <a:p>
            <a:pPr algn="ctr" indent="0" marL="0">
              <a:buNone/>
            </a:pPr>
            <a:r>
              <a:rPr lang="en-US" sz="1100" b="1" dirty="0">
                <a:solidFill>
                  <a:srgbClr val="1F3A5F"/>
                </a:solidFill>
                <a:latin typeface="Calibri" pitchFamily="34" charset="0"/>
                <a:ea typeface="Calibri" pitchFamily="34" charset="-122"/>
                <a:cs typeface="Calibri" pitchFamily="34" charset="-120"/>
              </a:rPr>
              <a:t>Yati Tiwari</a:t>
            </a:r>
            <a:endParaRPr lang="en-US" sz="1100" dirty="0"/>
          </a:p>
        </p:txBody>
      </p:sp>
      <p:sp>
        <p:nvSpPr>
          <p:cNvPr id="12" name="Text 10"/>
          <p:cNvSpPr txBox="1"/>
          <p:nvPr/>
        </p:nvSpPr>
        <p:spPr>
          <a:xfrm>
            <a:off x="2185416" y="3840480"/>
            <a:ext cx="1499616" cy="502920"/>
          </a:xfrm>
          <a:prstGeom prst="roundRect">
            <a:avLst>
              <a:gd name="adj" fmla="val 14545"/>
            </a:avLst>
          </a:prstGeom>
          <a:solidFill>
            <a:srgbClr val="FFFFFF"/>
          </a:solidFill>
          <a:ln w="12700">
            <a:solidFill>
              <a:srgbClr val="1F3A5F"/>
            </a:solidFill>
          </a:ln>
        </p:spPr>
        <p:txBody>
          <a:bodyPr wrap="square" lIns="381" tIns="381" rIns="381" bIns="381" rtlCol="0" anchor="ctr"/>
          <a:lstStyle/>
          <a:p>
            <a:pPr algn="ctr" indent="0" marL="0">
              <a:buNone/>
            </a:pPr>
            <a:r>
              <a:rPr lang="en-US" sz="1100" b="1" dirty="0">
                <a:solidFill>
                  <a:srgbClr val="1F3A5F"/>
                </a:solidFill>
                <a:latin typeface="Calibri" pitchFamily="34" charset="0"/>
                <a:ea typeface="Calibri" pitchFamily="34" charset="-122"/>
                <a:cs typeface="Calibri" pitchFamily="34" charset="-120"/>
              </a:rPr>
              <a:t>Sumit Thakur</a:t>
            </a:r>
            <a:endParaRPr lang="en-US" sz="1100" dirty="0"/>
          </a:p>
        </p:txBody>
      </p:sp>
      <p:sp>
        <p:nvSpPr>
          <p:cNvPr id="13" name="Text 11"/>
          <p:cNvSpPr txBox="1"/>
          <p:nvPr/>
        </p:nvSpPr>
        <p:spPr>
          <a:xfrm>
            <a:off x="3822192" y="3840480"/>
            <a:ext cx="1499616" cy="502920"/>
          </a:xfrm>
          <a:prstGeom prst="roundRect">
            <a:avLst>
              <a:gd name="adj" fmla="val 14545"/>
            </a:avLst>
          </a:prstGeom>
          <a:solidFill>
            <a:srgbClr val="FFFFFF"/>
          </a:solidFill>
          <a:ln w="12700">
            <a:solidFill>
              <a:srgbClr val="1F3A5F"/>
            </a:solidFill>
          </a:ln>
        </p:spPr>
        <p:txBody>
          <a:bodyPr wrap="square" lIns="381" tIns="381" rIns="381" bIns="381" rtlCol="0" anchor="ctr"/>
          <a:lstStyle/>
          <a:p>
            <a:pPr algn="ctr" indent="0" marL="0">
              <a:buNone/>
            </a:pPr>
            <a:r>
              <a:rPr lang="en-US" sz="1100" b="1" dirty="0">
                <a:solidFill>
                  <a:srgbClr val="1F3A5F"/>
                </a:solidFill>
                <a:latin typeface="Calibri" pitchFamily="34" charset="0"/>
                <a:ea typeface="Calibri" pitchFamily="34" charset="-122"/>
                <a:cs typeface="Calibri" pitchFamily="34" charset="-120"/>
              </a:rPr>
              <a:t>Ved Pandya</a:t>
            </a:r>
            <a:endParaRPr lang="en-US" sz="1100" dirty="0"/>
          </a:p>
        </p:txBody>
      </p:sp>
      <p:sp>
        <p:nvSpPr>
          <p:cNvPr id="14" name="Text 12"/>
          <p:cNvSpPr txBox="1"/>
          <p:nvPr/>
        </p:nvSpPr>
        <p:spPr>
          <a:xfrm>
            <a:off x="5458968" y="3840480"/>
            <a:ext cx="1499616" cy="502920"/>
          </a:xfrm>
          <a:prstGeom prst="roundRect">
            <a:avLst>
              <a:gd name="adj" fmla="val 14545"/>
            </a:avLst>
          </a:prstGeom>
          <a:solidFill>
            <a:srgbClr val="FFFFFF"/>
          </a:solidFill>
          <a:ln w="12700">
            <a:solidFill>
              <a:srgbClr val="1F3A5F"/>
            </a:solidFill>
          </a:ln>
        </p:spPr>
        <p:txBody>
          <a:bodyPr wrap="square" lIns="381" tIns="381" rIns="381" bIns="381" rtlCol="0" anchor="ctr"/>
          <a:lstStyle/>
          <a:p>
            <a:pPr algn="ctr" indent="0" marL="0">
              <a:buNone/>
            </a:pPr>
            <a:r>
              <a:rPr lang="en-US" sz="1100" b="1" dirty="0">
                <a:solidFill>
                  <a:srgbClr val="1F3A5F"/>
                </a:solidFill>
                <a:latin typeface="Calibri" pitchFamily="34" charset="0"/>
                <a:ea typeface="Calibri" pitchFamily="34" charset="-122"/>
                <a:cs typeface="Calibri" pitchFamily="34" charset="-120"/>
              </a:rPr>
              <a:t>Utkrati Agrawal</a:t>
            </a:r>
            <a:endParaRPr lang="en-US" sz="1100" dirty="0"/>
          </a:p>
        </p:txBody>
      </p:sp>
      <p:sp>
        <p:nvSpPr>
          <p:cNvPr id="15" name="Text 13"/>
          <p:cNvSpPr txBox="1"/>
          <p:nvPr/>
        </p:nvSpPr>
        <p:spPr>
          <a:xfrm>
            <a:off x="7095744" y="3840480"/>
            <a:ext cx="1499616" cy="502920"/>
          </a:xfrm>
          <a:prstGeom prst="roundRect">
            <a:avLst>
              <a:gd name="adj" fmla="val 14545"/>
            </a:avLst>
          </a:prstGeom>
          <a:solidFill>
            <a:srgbClr val="FFFFFF"/>
          </a:solidFill>
          <a:ln w="12700">
            <a:solidFill>
              <a:srgbClr val="1F3A5F"/>
            </a:solidFill>
          </a:ln>
        </p:spPr>
        <p:txBody>
          <a:bodyPr wrap="square" lIns="381" tIns="381" rIns="381" bIns="381" rtlCol="0" anchor="ctr"/>
          <a:lstStyle/>
          <a:p>
            <a:pPr algn="ctr" indent="0" marL="0">
              <a:buNone/>
            </a:pPr>
            <a:r>
              <a:rPr lang="en-US" sz="1100" b="1" dirty="0">
                <a:solidFill>
                  <a:srgbClr val="1F3A5F"/>
                </a:solidFill>
                <a:latin typeface="Calibri" pitchFamily="34" charset="0"/>
                <a:ea typeface="Calibri" pitchFamily="34" charset="-122"/>
                <a:cs typeface="Calibri" pitchFamily="34" charset="-120"/>
              </a:rPr>
              <a:t>Yagneshbhai Makwana</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8229600" cy="548640"/>
          </a:xfrm>
          <a:prstGeom prst="rect">
            <a:avLst/>
          </a:prstGeom>
          <a:noFill/>
          <a:ln/>
        </p:spPr>
        <p:txBody>
          <a:bodyPr wrap="square" lIns="0" tIns="0" rIns="0" bIns="0" rtlCol="0" anchor="ctr"/>
          <a:lstStyle/>
          <a:p>
            <a:pPr indent="0" marL="0">
              <a:buNone/>
            </a:pPr>
            <a:r>
              <a:rPr lang="en-US" sz="2800" b="1" dirty="0">
                <a:solidFill>
                  <a:srgbClr val="1F3A5F"/>
                </a:solidFill>
                <a:latin typeface="Calibri" pitchFamily="34" charset="0"/>
                <a:ea typeface="Calibri" pitchFamily="34" charset="-122"/>
                <a:cs typeface="Calibri" pitchFamily="34" charset="-120"/>
              </a:rPr>
              <a:t>Why Talent Matters</a:t>
            </a:r>
            <a:endParaRPr lang="en-US" sz="2800" dirty="0"/>
          </a:p>
        </p:txBody>
      </p:sp>
      <p:sp>
        <p:nvSpPr>
          <p:cNvPr id="3" name="Shape 1"/>
          <p:cNvSpPr/>
          <p:nvPr/>
        </p:nvSpPr>
        <p:spPr>
          <a:xfrm>
            <a:off x="457200" y="786384"/>
            <a:ext cx="1188720" cy="64008"/>
          </a:xfrm>
          <a:prstGeom prst="rect">
            <a:avLst/>
          </a:prstGeom>
          <a:solidFill>
            <a:srgbClr val="2A7F8E"/>
          </a:solidFill>
          <a:ln w="12700">
            <a:solidFill>
              <a:srgbClr val="2A7F8E"/>
            </a:solidFill>
            <a:prstDash val="solid"/>
          </a:ln>
        </p:spPr>
      </p:sp>
      <p:sp>
        <p:nvSpPr>
          <p:cNvPr id="4" name="Text 2"/>
          <p:cNvSpPr txBox="1"/>
          <p:nvPr/>
        </p:nvSpPr>
        <p:spPr>
          <a:xfrm>
            <a:off x="8321040" y="4846320"/>
            <a:ext cx="365760" cy="228600"/>
          </a:xfrm>
          <a:prstGeom prst="rect">
            <a:avLst/>
          </a:prstGeom>
          <a:noFill/>
          <a:ln/>
        </p:spPr>
        <p:txBody>
          <a:bodyPr wrap="square" lIns="0" tIns="0" rIns="0" bIns="0" rtlCol="0" anchor="ctr"/>
          <a:lstStyle/>
          <a:p>
            <a:pPr algn="r" indent="0" marL="0">
              <a:buNone/>
            </a:pPr>
            <a:r>
              <a:rPr lang="en-US" sz="1000" dirty="0">
                <a:solidFill>
                  <a:srgbClr val="666666"/>
                </a:solidFill>
                <a:latin typeface="Calibri" pitchFamily="34" charset="0"/>
                <a:ea typeface="Calibri" pitchFamily="34" charset="-122"/>
                <a:cs typeface="Calibri" pitchFamily="34" charset="-120"/>
              </a:rPr>
              <a:t>2</a:t>
            </a:r>
            <a:endParaRPr lang="en-US" sz="1000" dirty="0"/>
          </a:p>
        </p:txBody>
      </p:sp>
      <p:sp>
        <p:nvSpPr>
          <p:cNvPr id="5" name="Shape 3"/>
          <p:cNvSpPr/>
          <p:nvPr/>
        </p:nvSpPr>
        <p:spPr>
          <a:xfrm>
            <a:off x="457200" y="1005840"/>
            <a:ext cx="2103120" cy="1097280"/>
          </a:xfrm>
          <a:prstGeom prst="rect">
            <a:avLst/>
          </a:prstGeom>
          <a:solidFill>
            <a:srgbClr val="1F3A5F"/>
          </a:solidFill>
          <a:ln w="12700">
            <a:solidFill>
              <a:srgbClr val="1F3A5F"/>
            </a:solidFill>
            <a:prstDash val="solid"/>
          </a:ln>
        </p:spPr>
      </p:sp>
      <p:sp>
        <p:nvSpPr>
          <p:cNvPr id="6" name="Text 4"/>
          <p:cNvSpPr txBox="1"/>
          <p:nvPr/>
        </p:nvSpPr>
        <p:spPr>
          <a:xfrm>
            <a:off x="457200" y="1051560"/>
            <a:ext cx="2103120" cy="548640"/>
          </a:xfrm>
          <a:prstGeom prst="rect">
            <a:avLst/>
          </a:prstGeom>
          <a:noFill/>
          <a:ln/>
        </p:spPr>
        <p:txBody>
          <a:bodyPr wrap="square" lIns="0" tIns="0" rIns="0" bIns="0" rtlCol="0" anchor="ctr"/>
          <a:lstStyle/>
          <a:p>
            <a:pPr algn="ctr" indent="0" marL="0">
              <a:buNone/>
            </a:pPr>
            <a:r>
              <a:rPr lang="en-US" sz="3200" b="1" dirty="0">
                <a:solidFill>
                  <a:srgbClr val="FFFFFF"/>
                </a:solidFill>
                <a:latin typeface="Calibri" pitchFamily="34" charset="0"/>
                <a:ea typeface="Calibri" pitchFamily="34" charset="-122"/>
                <a:cs typeface="Calibri" pitchFamily="34" charset="-120"/>
              </a:rPr>
              <a:t>18.4%</a:t>
            </a:r>
            <a:endParaRPr lang="en-US" sz="3200" dirty="0"/>
          </a:p>
        </p:txBody>
      </p:sp>
      <p:sp>
        <p:nvSpPr>
          <p:cNvPr id="7" name="Text 5"/>
          <p:cNvSpPr txBox="1"/>
          <p:nvPr/>
        </p:nvSpPr>
        <p:spPr>
          <a:xfrm>
            <a:off x="548640" y="1600200"/>
            <a:ext cx="1920240" cy="457200"/>
          </a:xfrm>
          <a:prstGeom prst="rect">
            <a:avLst/>
          </a:prstGeom>
          <a:noFill/>
          <a:ln/>
        </p:spPr>
        <p:txBody>
          <a:bodyPr wrap="square" lIns="0" tIns="0" rIns="0" bIns="0" rtlCol="0" anchor="t"/>
          <a:lstStyle/>
          <a:p>
            <a:pPr algn="ctr" indent="0" marL="0">
              <a:buNone/>
            </a:pPr>
            <a:r>
              <a:rPr lang="en-US" sz="1100" dirty="0">
                <a:solidFill>
                  <a:srgbClr val="FFFFFF"/>
                </a:solidFill>
                <a:latin typeface="Calibri" pitchFamily="34" charset="0"/>
                <a:ea typeface="Calibri" pitchFamily="34" charset="-122"/>
                <a:cs typeface="Calibri" pitchFamily="34" charset="-120"/>
              </a:rPr>
              <a:t>tech services attrition (people leaving), 2026</a:t>
            </a:r>
            <a:endParaRPr lang="en-US" sz="1100" dirty="0"/>
          </a:p>
        </p:txBody>
      </p:sp>
      <p:sp>
        <p:nvSpPr>
          <p:cNvPr id="8" name="Shape 6"/>
          <p:cNvSpPr/>
          <p:nvPr/>
        </p:nvSpPr>
        <p:spPr>
          <a:xfrm>
            <a:off x="2651760" y="1005840"/>
            <a:ext cx="2103120" cy="1097280"/>
          </a:xfrm>
          <a:prstGeom prst="rect">
            <a:avLst/>
          </a:prstGeom>
          <a:solidFill>
            <a:srgbClr val="1F3A5F"/>
          </a:solidFill>
          <a:ln w="12700">
            <a:solidFill>
              <a:srgbClr val="1F3A5F"/>
            </a:solidFill>
            <a:prstDash val="solid"/>
          </a:ln>
        </p:spPr>
      </p:sp>
      <p:sp>
        <p:nvSpPr>
          <p:cNvPr id="9" name="Text 7"/>
          <p:cNvSpPr txBox="1"/>
          <p:nvPr/>
        </p:nvSpPr>
        <p:spPr>
          <a:xfrm>
            <a:off x="2651760" y="1051560"/>
            <a:ext cx="2103120" cy="548640"/>
          </a:xfrm>
          <a:prstGeom prst="rect">
            <a:avLst/>
          </a:prstGeom>
          <a:noFill/>
          <a:ln/>
        </p:spPr>
        <p:txBody>
          <a:bodyPr wrap="square" lIns="0" tIns="0" rIns="0" bIns="0" rtlCol="0" anchor="ctr"/>
          <a:lstStyle/>
          <a:p>
            <a:pPr algn="ctr" indent="0" marL="0">
              <a:buNone/>
            </a:pPr>
            <a:r>
              <a:rPr lang="en-US" sz="3200" b="1" dirty="0">
                <a:solidFill>
                  <a:srgbClr val="FFFFFF"/>
                </a:solidFill>
                <a:latin typeface="Calibri" pitchFamily="34" charset="0"/>
                <a:ea typeface="Calibri" pitchFamily="34" charset="-122"/>
                <a:cs typeface="Calibri" pitchFamily="34" charset="-120"/>
              </a:rPr>
              <a:t>3k–8k</a:t>
            </a:r>
            <a:endParaRPr lang="en-US" sz="3200" dirty="0"/>
          </a:p>
        </p:txBody>
      </p:sp>
      <p:sp>
        <p:nvSpPr>
          <p:cNvPr id="10" name="Text 8"/>
          <p:cNvSpPr txBox="1"/>
          <p:nvPr/>
        </p:nvSpPr>
        <p:spPr>
          <a:xfrm>
            <a:off x="2743200" y="1600200"/>
            <a:ext cx="1920240" cy="457200"/>
          </a:xfrm>
          <a:prstGeom prst="rect">
            <a:avLst/>
          </a:prstGeom>
          <a:noFill/>
          <a:ln/>
        </p:spPr>
        <p:txBody>
          <a:bodyPr wrap="square" lIns="0" tIns="0" rIns="0" bIns="0" rtlCol="0" anchor="t"/>
          <a:lstStyle/>
          <a:p>
            <a:pPr algn="ctr" indent="0" marL="0">
              <a:buNone/>
            </a:pPr>
            <a:r>
              <a:rPr lang="en-US" sz="1100" dirty="0">
                <a:solidFill>
                  <a:srgbClr val="FFFFFF"/>
                </a:solidFill>
                <a:latin typeface="Calibri" pitchFamily="34" charset="0"/>
                <a:ea typeface="Calibri" pitchFamily="34" charset="-122"/>
                <a:cs typeface="Calibri" pitchFamily="34" charset="-120"/>
              </a:rPr>
              <a:t>resumes for one high-volume opening</a:t>
            </a:r>
            <a:endParaRPr lang="en-US" sz="1100" dirty="0"/>
          </a:p>
        </p:txBody>
      </p:sp>
      <p:sp>
        <p:nvSpPr>
          <p:cNvPr id="11" name="Text 9"/>
          <p:cNvSpPr txBox="1"/>
          <p:nvPr/>
        </p:nvSpPr>
        <p:spPr>
          <a:xfrm>
            <a:off x="4937760" y="1005840"/>
            <a:ext cx="3749040" cy="1097280"/>
          </a:xfrm>
          <a:prstGeom prst="rect">
            <a:avLst/>
          </a:prstGeom>
          <a:noFill/>
          <a:ln/>
        </p:spPr>
        <p:txBody>
          <a:bodyPr wrap="square" lIns="0" tIns="0" rIns="0" bIns="0" rtlCol="0" anchor="ctr"/>
          <a:lstStyle/>
          <a:p>
            <a:pPr indent="0" marL="0">
              <a:buNone/>
            </a:pPr>
            <a:r>
              <a:rPr lang="en-US" sz="1600" b="1" dirty="0">
                <a:solidFill>
                  <a:srgbClr val="222222"/>
                </a:solidFill>
                <a:latin typeface="Calibri" pitchFamily="34" charset="0"/>
                <a:ea typeface="Calibri" pitchFamily="34" charset="-122"/>
                <a:cs typeface="Calibri" pitchFamily="34" charset="-120"/>
              </a:rPr>
              <a:t>People drive delivery, productivity and client value. So hiring gaps and exits slow the business.</a:t>
            </a:r>
            <a:endParaRPr lang="en-US" sz="1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7200" y="2331720"/>
          <a:ext cx="8229600" cy="914400"/>
        </p:xfrm>
        <a:graphic>
          <a:graphicData uri="http://schemas.openxmlformats.org/drawingml/2006/table">
            <a:tbl>
              <a:tblPr/>
              <a:tblGrid>
                <a:gridCol w="1371600"/>
                <a:gridCol w="3017520"/>
                <a:gridCol w="3840480"/>
              </a:tblGrid>
              <a:tr h="329184">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Area</a:t>
                      </a:r>
                      <a:endParaRPr lang="en-US" sz="1400" dirty="0">
                        <a:latin typeface="Calibri" charset="0"/>
                        <a:ea typeface="Calibri" charset="0"/>
                        <a:cs typeface="Calibri" charset="0"/>
                      </a:endParaRPr>
                    </a:p>
                  </a:txBody>
                  <a:tcPr marL="91440" marR="91440" marT="54864" marB="54864" anchor="ctr">
                    <a:lnL w="12700" cap="flat" cmpd="sng" algn="ctr">
                      <a:solidFill>
                        <a:srgbClr val="A0A0A0"/>
                      </a:solidFill>
                      <a:prstDash val="solid"/>
                      <a:round/>
                      <a:headEnd type="none" w="med" len="med"/>
                      <a:tailEnd type="none" w="med" len="med"/>
                    </a:lnL>
                    <a:lnR w="12700" cap="flat" cmpd="sng" algn="ctr">
                      <a:solidFill>
                        <a:srgbClr val="A0A0A0"/>
                      </a:solidFill>
                      <a:prstDash val="solid"/>
                      <a:round/>
                      <a:headEnd type="none" w="med" len="med"/>
                      <a:tailEnd type="none" w="med" len="med"/>
                    </a:lnR>
                    <a:lnT w="12700" cap="flat" cmpd="sng" algn="ctr">
                      <a:solidFill>
                        <a:srgbClr val="A0A0A0"/>
                      </a:solidFill>
                      <a:prstDash val="solid"/>
                      <a:round/>
                      <a:headEnd type="none" w="med" len="med"/>
                      <a:tailEnd type="none" w="med" len="med"/>
                    </a:lnT>
                    <a:lnB w="12700" cap="flat" cmpd="sng" algn="ctr">
                      <a:solidFill>
                        <a:srgbClr val="A0A0A0"/>
                      </a:solidFill>
                      <a:prstDash val="solid"/>
                      <a:round/>
                      <a:headEnd type="none" w="med" len="med"/>
                      <a:tailEnd type="none" w="med" len="med"/>
                    </a:lnB>
                    <a:solidFill>
                      <a:srgbClr val="1F3A5F"/>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Problem</a:t>
                      </a:r>
                      <a:endParaRPr lang="en-US" sz="1400" dirty="0">
                        <a:latin typeface="Calibri" charset="0"/>
                        <a:ea typeface="Calibri" charset="0"/>
                        <a:cs typeface="Calibri" charset="0"/>
                      </a:endParaRPr>
                    </a:p>
                  </a:txBody>
                  <a:tcPr marL="91440" marR="91440" marT="54864" marB="54864" anchor="ctr">
                    <a:lnL w="12700" cap="flat" cmpd="sng" algn="ctr">
                      <a:solidFill>
                        <a:srgbClr val="A0A0A0"/>
                      </a:solidFill>
                      <a:prstDash val="solid"/>
                      <a:round/>
                      <a:headEnd type="none" w="med" len="med"/>
                      <a:tailEnd type="none" w="med" len="med"/>
                    </a:lnL>
                    <a:lnR w="12700" cap="flat" cmpd="sng" algn="ctr">
                      <a:solidFill>
                        <a:srgbClr val="A0A0A0"/>
                      </a:solidFill>
                      <a:prstDash val="solid"/>
                      <a:round/>
                      <a:headEnd type="none" w="med" len="med"/>
                      <a:tailEnd type="none" w="med" len="med"/>
                    </a:lnR>
                    <a:lnT w="12700" cap="flat" cmpd="sng" algn="ctr">
                      <a:solidFill>
                        <a:srgbClr val="A0A0A0"/>
                      </a:solidFill>
                      <a:prstDash val="solid"/>
                      <a:round/>
                      <a:headEnd type="none" w="med" len="med"/>
                      <a:tailEnd type="none" w="med" len="med"/>
                    </a:lnT>
                    <a:lnB w="12700" cap="flat" cmpd="sng" algn="ctr">
                      <a:solidFill>
                        <a:srgbClr val="A0A0A0"/>
                      </a:solidFill>
                      <a:prstDash val="solid"/>
                      <a:round/>
                      <a:headEnd type="none" w="med" len="med"/>
                      <a:tailEnd type="none" w="med" len="med"/>
                    </a:lnB>
                    <a:solidFill>
                      <a:srgbClr val="1F3A5F"/>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Why it happens</a:t>
                      </a:r>
                      <a:endParaRPr lang="en-US" sz="1400" dirty="0">
                        <a:latin typeface="Calibri" charset="0"/>
                        <a:ea typeface="Calibri" charset="0"/>
                        <a:cs typeface="Calibri" charset="0"/>
                      </a:endParaRPr>
                    </a:p>
                  </a:txBody>
                  <a:tcPr marL="91440" marR="91440" marT="54864" marB="54864" anchor="ctr">
                    <a:lnL w="12700" cap="flat" cmpd="sng" algn="ctr">
                      <a:solidFill>
                        <a:srgbClr val="A0A0A0"/>
                      </a:solidFill>
                      <a:prstDash val="solid"/>
                      <a:round/>
                      <a:headEnd type="none" w="med" len="med"/>
                      <a:tailEnd type="none" w="med" len="med"/>
                    </a:lnL>
                    <a:lnR w="12700" cap="flat" cmpd="sng" algn="ctr">
                      <a:solidFill>
                        <a:srgbClr val="A0A0A0"/>
                      </a:solidFill>
                      <a:prstDash val="solid"/>
                      <a:round/>
                      <a:headEnd type="none" w="med" len="med"/>
                      <a:tailEnd type="none" w="med" len="med"/>
                    </a:lnR>
                    <a:lnT w="12700" cap="flat" cmpd="sng" algn="ctr">
                      <a:solidFill>
                        <a:srgbClr val="A0A0A0"/>
                      </a:solidFill>
                      <a:prstDash val="solid"/>
                      <a:round/>
                      <a:headEnd type="none" w="med" len="med"/>
                      <a:tailEnd type="none" w="med" len="med"/>
                    </a:lnT>
                    <a:lnB w="12700" cap="flat" cmpd="sng" algn="ctr">
                      <a:solidFill>
                        <a:srgbClr val="A0A0A0"/>
                      </a:solidFill>
                      <a:prstDash val="solid"/>
                      <a:round/>
                      <a:headEnd type="none" w="med" len="med"/>
                      <a:tailEnd type="none" w="med" len="med"/>
                    </a:lnB>
                    <a:solidFill>
                      <a:srgbClr val="1F3A5F"/>
                    </a:solidFill>
                  </a:tcPr>
                </a:tc>
              </a:tr>
              <a:tr h="438912">
                <a:tc>
                  <a:txBody>
                    <a:bodyPr/>
                    <a:lstStyle/>
                    <a:p>
                      <a:pPr indent="0" marL="0">
                        <a:buNone/>
                      </a:pPr>
                      <a:r>
                        <a:rPr lang="en-US" sz="1300" b="1" dirty="0">
                          <a:solidFill>
                            <a:srgbClr val="222222"/>
                          </a:solidFill>
                          <a:latin typeface="Calibri" pitchFamily="34" charset="0"/>
                          <a:ea typeface="Calibri" pitchFamily="34" charset="-122"/>
                          <a:cs typeface="Calibri" pitchFamily="34" charset="-120"/>
                        </a:rPr>
                        <a:t>Hiring</a:t>
                      </a:r>
                      <a:endParaRPr lang="en-US" sz="1300" dirty="0">
                        <a:latin typeface="Calibri" charset="0"/>
                        <a:ea typeface="Calibri" charset="0"/>
                        <a:cs typeface="Calibri" charset="0"/>
                      </a:endParaRPr>
                    </a:p>
                  </a:txBody>
                  <a:tcPr marL="91440" marR="91440" marT="54864" marB="54864" anchor="t">
                    <a:lnL w="12700" cap="flat" cmpd="sng" algn="ctr">
                      <a:solidFill>
                        <a:srgbClr val="A0A0A0"/>
                      </a:solidFill>
                      <a:prstDash val="solid"/>
                      <a:round/>
                      <a:headEnd type="none" w="med" len="med"/>
                      <a:tailEnd type="none" w="med" len="med"/>
                    </a:lnL>
                    <a:lnR w="12700" cap="flat" cmpd="sng" algn="ctr">
                      <a:solidFill>
                        <a:srgbClr val="A0A0A0"/>
                      </a:solidFill>
                      <a:prstDash val="solid"/>
                      <a:round/>
                      <a:headEnd type="none" w="med" len="med"/>
                      <a:tailEnd type="none" w="med" len="med"/>
                    </a:lnR>
                    <a:lnT w="12700" cap="flat" cmpd="sng" algn="ctr">
                      <a:solidFill>
                        <a:srgbClr val="A0A0A0"/>
                      </a:solidFill>
                      <a:prstDash val="solid"/>
                      <a:round/>
                      <a:headEnd type="none" w="med" len="med"/>
                      <a:tailEnd type="none" w="med" len="med"/>
                    </a:lnT>
                    <a:lnB w="12700" cap="flat" cmpd="sng" algn="ctr">
                      <a:solidFill>
                        <a:srgbClr val="A0A0A0"/>
                      </a:solidFill>
                      <a:prstDash val="solid"/>
                      <a:round/>
                      <a:headEnd type="none" w="med" len="med"/>
                      <a:tailEnd type="none" w="med" len="med"/>
                    </a:lnB>
                    <a:solidFill>
                      <a:srgbClr val="EEF2F7"/>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Strong candidates get missed</a:t>
                      </a:r>
                      <a:endParaRPr lang="en-US" sz="1300" dirty="0">
                        <a:latin typeface="Calibri" charset="0"/>
                        <a:ea typeface="Calibri" charset="0"/>
                        <a:cs typeface="Calibri" charset="0"/>
                      </a:endParaRPr>
                    </a:p>
                  </a:txBody>
                  <a:tcPr marL="91440" marR="91440" marT="54864" marB="54864" anchor="t">
                    <a:lnL w="12700" cap="flat" cmpd="sng" algn="ctr">
                      <a:solidFill>
                        <a:srgbClr val="A0A0A0"/>
                      </a:solidFill>
                      <a:prstDash val="solid"/>
                      <a:round/>
                      <a:headEnd type="none" w="med" len="med"/>
                      <a:tailEnd type="none" w="med" len="med"/>
                    </a:lnL>
                    <a:lnR w="12700" cap="flat" cmpd="sng" algn="ctr">
                      <a:solidFill>
                        <a:srgbClr val="A0A0A0"/>
                      </a:solidFill>
                      <a:prstDash val="solid"/>
                      <a:round/>
                      <a:headEnd type="none" w="med" len="med"/>
                      <a:tailEnd type="none" w="med" len="med"/>
                    </a:lnR>
                    <a:lnT w="12700" cap="flat" cmpd="sng" algn="ctr">
                      <a:solidFill>
                        <a:srgbClr val="A0A0A0"/>
                      </a:solidFill>
                      <a:prstDash val="solid"/>
                      <a:round/>
                      <a:headEnd type="none" w="med" len="med"/>
                      <a:tailEnd type="none" w="med" len="med"/>
                    </a:lnT>
                    <a:lnB w="12700" cap="flat" cmpd="sng" algn="ctr">
                      <a:solidFill>
                        <a:srgbClr val="A0A0A0"/>
                      </a:solidFill>
                      <a:prstDash val="solid"/>
                      <a:round/>
                      <a:headEnd type="none" w="med" len="med"/>
                      <a:tailEnd type="none" w="med" len="med"/>
                    </a:lnB>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Inconsistent screening; keyword bias</a:t>
                      </a:r>
                      <a:endParaRPr lang="en-US" sz="1300" dirty="0">
                        <a:latin typeface="Calibri" charset="0"/>
                        <a:ea typeface="Calibri" charset="0"/>
                        <a:cs typeface="Calibri" charset="0"/>
                      </a:endParaRPr>
                    </a:p>
                  </a:txBody>
                  <a:tcPr marL="91440" marR="91440" marT="54864" marB="54864" anchor="t">
                    <a:lnL w="12700" cap="flat" cmpd="sng" algn="ctr">
                      <a:solidFill>
                        <a:srgbClr val="A0A0A0"/>
                      </a:solidFill>
                      <a:prstDash val="solid"/>
                      <a:round/>
                      <a:headEnd type="none" w="med" len="med"/>
                      <a:tailEnd type="none" w="med" len="med"/>
                    </a:lnL>
                    <a:lnR w="12700" cap="flat" cmpd="sng" algn="ctr">
                      <a:solidFill>
                        <a:srgbClr val="A0A0A0"/>
                      </a:solidFill>
                      <a:prstDash val="solid"/>
                      <a:round/>
                      <a:headEnd type="none" w="med" len="med"/>
                      <a:tailEnd type="none" w="med" len="med"/>
                    </a:lnR>
                    <a:lnT w="12700" cap="flat" cmpd="sng" algn="ctr">
                      <a:solidFill>
                        <a:srgbClr val="A0A0A0"/>
                      </a:solidFill>
                      <a:prstDash val="solid"/>
                      <a:round/>
                      <a:headEnd type="none" w="med" len="med"/>
                      <a:tailEnd type="none" w="med" len="med"/>
                    </a:lnT>
                    <a:lnB w="12700" cap="flat" cmpd="sng" algn="ctr">
                      <a:solidFill>
                        <a:srgbClr val="A0A0A0"/>
                      </a:solidFill>
                      <a:prstDash val="solid"/>
                      <a:round/>
                      <a:headEnd type="none" w="med" len="med"/>
                      <a:tailEnd type="none" w="med" len="med"/>
                    </a:lnB>
                  </a:tcPr>
                </a:tc>
              </a:tr>
              <a:tr h="438912">
                <a:tc>
                  <a:txBody>
                    <a:bodyPr/>
                    <a:lstStyle/>
                    <a:p>
                      <a:pPr indent="0" marL="0">
                        <a:buNone/>
                      </a:pPr>
                      <a:r>
                        <a:rPr lang="en-US" sz="1300" b="1" dirty="0">
                          <a:solidFill>
                            <a:srgbClr val="222222"/>
                          </a:solidFill>
                          <a:latin typeface="Calibri" pitchFamily="34" charset="0"/>
                          <a:ea typeface="Calibri" pitchFamily="34" charset="-122"/>
                          <a:cs typeface="Calibri" pitchFamily="34" charset="-120"/>
                        </a:rPr>
                        <a:t>Retention</a:t>
                      </a:r>
                      <a:endParaRPr lang="en-US" sz="1300" dirty="0">
                        <a:latin typeface="Calibri" charset="0"/>
                        <a:ea typeface="Calibri" charset="0"/>
                        <a:cs typeface="Calibri" charset="0"/>
                      </a:endParaRPr>
                    </a:p>
                  </a:txBody>
                  <a:tcPr marL="91440" marR="91440" marT="54864" marB="54864" anchor="t">
                    <a:lnL w="12700" cap="flat" cmpd="sng" algn="ctr">
                      <a:solidFill>
                        <a:srgbClr val="A0A0A0"/>
                      </a:solidFill>
                      <a:prstDash val="solid"/>
                      <a:round/>
                      <a:headEnd type="none" w="med" len="med"/>
                      <a:tailEnd type="none" w="med" len="med"/>
                    </a:lnL>
                    <a:lnR w="12700" cap="flat" cmpd="sng" algn="ctr">
                      <a:solidFill>
                        <a:srgbClr val="A0A0A0"/>
                      </a:solidFill>
                      <a:prstDash val="solid"/>
                      <a:round/>
                      <a:headEnd type="none" w="med" len="med"/>
                      <a:tailEnd type="none" w="med" len="med"/>
                    </a:lnR>
                    <a:lnT w="12700" cap="flat" cmpd="sng" algn="ctr">
                      <a:solidFill>
                        <a:srgbClr val="A0A0A0"/>
                      </a:solidFill>
                      <a:prstDash val="solid"/>
                      <a:round/>
                      <a:headEnd type="none" w="med" len="med"/>
                      <a:tailEnd type="none" w="med" len="med"/>
                    </a:lnT>
                    <a:lnB w="12700" cap="flat" cmpd="sng" algn="ctr">
                      <a:solidFill>
                        <a:srgbClr val="A0A0A0"/>
                      </a:solidFill>
                      <a:prstDash val="solid"/>
                      <a:round/>
                      <a:headEnd type="none" w="med" len="med"/>
                      <a:tailEnd type="none" w="med" len="med"/>
                    </a:lnB>
                    <a:solidFill>
                      <a:srgbClr val="EEF2F7"/>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Exits disrupt delivery</a:t>
                      </a:r>
                      <a:endParaRPr lang="en-US" sz="1300" dirty="0">
                        <a:latin typeface="Calibri" charset="0"/>
                        <a:ea typeface="Calibri" charset="0"/>
                        <a:cs typeface="Calibri" charset="0"/>
                      </a:endParaRPr>
                    </a:p>
                  </a:txBody>
                  <a:tcPr marL="91440" marR="91440" marT="54864" marB="54864" anchor="t">
                    <a:lnL w="12700" cap="flat" cmpd="sng" algn="ctr">
                      <a:solidFill>
                        <a:srgbClr val="A0A0A0"/>
                      </a:solidFill>
                      <a:prstDash val="solid"/>
                      <a:round/>
                      <a:headEnd type="none" w="med" len="med"/>
                      <a:tailEnd type="none" w="med" len="med"/>
                    </a:lnL>
                    <a:lnR w="12700" cap="flat" cmpd="sng" algn="ctr">
                      <a:solidFill>
                        <a:srgbClr val="A0A0A0"/>
                      </a:solidFill>
                      <a:prstDash val="solid"/>
                      <a:round/>
                      <a:headEnd type="none" w="med" len="med"/>
                      <a:tailEnd type="none" w="med" len="med"/>
                    </a:lnR>
                    <a:lnT w="12700" cap="flat" cmpd="sng" algn="ctr">
                      <a:solidFill>
                        <a:srgbClr val="A0A0A0"/>
                      </a:solidFill>
                      <a:prstDash val="solid"/>
                      <a:round/>
                      <a:headEnd type="none" w="med" len="med"/>
                      <a:tailEnd type="none" w="med" len="med"/>
                    </a:lnT>
                    <a:lnB w="12700" cap="flat" cmpd="sng" algn="ctr">
                      <a:solidFill>
                        <a:srgbClr val="A0A0A0"/>
                      </a:solidFill>
                      <a:prstDash val="solid"/>
                      <a:round/>
                      <a:headEnd type="none" w="med" len="med"/>
                      <a:tailEnd type="none" w="med" len="med"/>
                    </a:lnB>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Pay gaps, late promotions, few chances to move roles</a:t>
                      </a:r>
                      <a:endParaRPr lang="en-US" sz="1300" dirty="0">
                        <a:latin typeface="Calibri" charset="0"/>
                        <a:ea typeface="Calibri" charset="0"/>
                        <a:cs typeface="Calibri" charset="0"/>
                      </a:endParaRPr>
                    </a:p>
                  </a:txBody>
                  <a:tcPr marL="91440" marR="91440" marT="54864" marB="54864" anchor="t">
                    <a:lnL w="12700" cap="flat" cmpd="sng" algn="ctr">
                      <a:solidFill>
                        <a:srgbClr val="A0A0A0"/>
                      </a:solidFill>
                      <a:prstDash val="solid"/>
                      <a:round/>
                      <a:headEnd type="none" w="med" len="med"/>
                      <a:tailEnd type="none" w="med" len="med"/>
                    </a:lnL>
                    <a:lnR w="12700" cap="flat" cmpd="sng" algn="ctr">
                      <a:solidFill>
                        <a:srgbClr val="A0A0A0"/>
                      </a:solidFill>
                      <a:prstDash val="solid"/>
                      <a:round/>
                      <a:headEnd type="none" w="med" len="med"/>
                      <a:tailEnd type="none" w="med" len="med"/>
                    </a:lnR>
                    <a:lnT w="12700" cap="flat" cmpd="sng" algn="ctr">
                      <a:solidFill>
                        <a:srgbClr val="A0A0A0"/>
                      </a:solidFill>
                      <a:prstDash val="solid"/>
                      <a:round/>
                      <a:headEnd type="none" w="med" len="med"/>
                      <a:tailEnd type="none" w="med" len="med"/>
                    </a:lnT>
                    <a:lnB w="12700" cap="flat" cmpd="sng" algn="ctr">
                      <a:solidFill>
                        <a:srgbClr val="A0A0A0"/>
                      </a:solidFill>
                      <a:prstDash val="solid"/>
                      <a:round/>
                      <a:headEnd type="none" w="med" len="med"/>
                      <a:tailEnd type="none" w="med" len="med"/>
                    </a:lnB>
                  </a:tcPr>
                </a:tc>
              </a:tr>
              <a:tr h="438912">
                <a:tc>
                  <a:txBody>
                    <a:bodyPr/>
                    <a:lstStyle/>
                    <a:p>
                      <a:pPr indent="0" marL="0">
                        <a:buNone/>
                      </a:pPr>
                      <a:r>
                        <a:rPr lang="en-US" sz="1300" b="1" dirty="0">
                          <a:solidFill>
                            <a:srgbClr val="222222"/>
                          </a:solidFill>
                          <a:latin typeface="Calibri" pitchFamily="34" charset="0"/>
                          <a:ea typeface="Calibri" pitchFamily="34" charset="-122"/>
                          <a:cs typeface="Calibri" pitchFamily="34" charset="-120"/>
                        </a:rPr>
                        <a:t>Growth</a:t>
                      </a:r>
                      <a:endParaRPr lang="en-US" sz="1300" dirty="0">
                        <a:latin typeface="Calibri" charset="0"/>
                        <a:ea typeface="Calibri" charset="0"/>
                        <a:cs typeface="Calibri" charset="0"/>
                      </a:endParaRPr>
                    </a:p>
                  </a:txBody>
                  <a:tcPr marL="91440" marR="91440" marT="54864" marB="54864" anchor="t">
                    <a:lnL w="12700" cap="flat" cmpd="sng" algn="ctr">
                      <a:solidFill>
                        <a:srgbClr val="A0A0A0"/>
                      </a:solidFill>
                      <a:prstDash val="solid"/>
                      <a:round/>
                      <a:headEnd type="none" w="med" len="med"/>
                      <a:tailEnd type="none" w="med" len="med"/>
                    </a:lnL>
                    <a:lnR w="12700" cap="flat" cmpd="sng" algn="ctr">
                      <a:solidFill>
                        <a:srgbClr val="A0A0A0"/>
                      </a:solidFill>
                      <a:prstDash val="solid"/>
                      <a:round/>
                      <a:headEnd type="none" w="med" len="med"/>
                      <a:tailEnd type="none" w="med" len="med"/>
                    </a:lnR>
                    <a:lnT w="12700" cap="flat" cmpd="sng" algn="ctr">
                      <a:solidFill>
                        <a:srgbClr val="A0A0A0"/>
                      </a:solidFill>
                      <a:prstDash val="solid"/>
                      <a:round/>
                      <a:headEnd type="none" w="med" len="med"/>
                      <a:tailEnd type="none" w="med" len="med"/>
                    </a:lnT>
                    <a:lnB w="12700" cap="flat" cmpd="sng" algn="ctr">
                      <a:solidFill>
                        <a:srgbClr val="A0A0A0"/>
                      </a:solidFill>
                      <a:prstDash val="solid"/>
                      <a:round/>
                      <a:headEnd type="none" w="med" len="med"/>
                      <a:tailEnd type="none" w="med" len="med"/>
                    </a:lnB>
                    <a:solidFill>
                      <a:srgbClr val="EEF2F7"/>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Skills lag client demand</a:t>
                      </a:r>
                      <a:endParaRPr lang="en-US" sz="1300" dirty="0">
                        <a:latin typeface="Calibri" charset="0"/>
                        <a:ea typeface="Calibri" charset="0"/>
                        <a:cs typeface="Calibri" charset="0"/>
                      </a:endParaRPr>
                    </a:p>
                  </a:txBody>
                  <a:tcPr marL="91440" marR="91440" marT="54864" marB="54864" anchor="t">
                    <a:lnL w="12700" cap="flat" cmpd="sng" algn="ctr">
                      <a:solidFill>
                        <a:srgbClr val="A0A0A0"/>
                      </a:solidFill>
                      <a:prstDash val="solid"/>
                      <a:round/>
                      <a:headEnd type="none" w="med" len="med"/>
                      <a:tailEnd type="none" w="med" len="med"/>
                    </a:lnL>
                    <a:lnR w="12700" cap="flat" cmpd="sng" algn="ctr">
                      <a:solidFill>
                        <a:srgbClr val="A0A0A0"/>
                      </a:solidFill>
                      <a:prstDash val="solid"/>
                      <a:round/>
                      <a:headEnd type="none" w="med" len="med"/>
                      <a:tailEnd type="none" w="med" len="med"/>
                    </a:lnR>
                    <a:lnT w="12700" cap="flat" cmpd="sng" algn="ctr">
                      <a:solidFill>
                        <a:srgbClr val="A0A0A0"/>
                      </a:solidFill>
                      <a:prstDash val="solid"/>
                      <a:round/>
                      <a:headEnd type="none" w="med" len="med"/>
                      <a:tailEnd type="none" w="med" len="med"/>
                    </a:lnT>
                    <a:lnB w="12700" cap="flat" cmpd="sng" algn="ctr">
                      <a:solidFill>
                        <a:srgbClr val="A0A0A0"/>
                      </a:solidFill>
                      <a:prstDash val="solid"/>
                      <a:round/>
                      <a:headEnd type="none" w="med" len="med"/>
                      <a:tailEnd type="none" w="med" len="med"/>
                    </a:lnB>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Generic training; no clear view of skills</a:t>
                      </a:r>
                      <a:endParaRPr lang="en-US" sz="1300" dirty="0">
                        <a:latin typeface="Calibri" charset="0"/>
                        <a:ea typeface="Calibri" charset="0"/>
                        <a:cs typeface="Calibri" charset="0"/>
                      </a:endParaRPr>
                    </a:p>
                  </a:txBody>
                  <a:tcPr marL="91440" marR="91440" marT="54864" marB="54864" anchor="t">
                    <a:lnL w="12700" cap="flat" cmpd="sng" algn="ctr">
                      <a:solidFill>
                        <a:srgbClr val="A0A0A0"/>
                      </a:solidFill>
                      <a:prstDash val="solid"/>
                      <a:round/>
                      <a:headEnd type="none" w="med" len="med"/>
                      <a:tailEnd type="none" w="med" len="med"/>
                    </a:lnL>
                    <a:lnR w="12700" cap="flat" cmpd="sng" algn="ctr">
                      <a:solidFill>
                        <a:srgbClr val="A0A0A0"/>
                      </a:solidFill>
                      <a:prstDash val="solid"/>
                      <a:round/>
                      <a:headEnd type="none" w="med" len="med"/>
                      <a:tailEnd type="none" w="med" len="med"/>
                    </a:lnR>
                    <a:lnT w="12700" cap="flat" cmpd="sng" algn="ctr">
                      <a:solidFill>
                        <a:srgbClr val="A0A0A0"/>
                      </a:solidFill>
                      <a:prstDash val="solid"/>
                      <a:round/>
                      <a:headEnd type="none" w="med" len="med"/>
                      <a:tailEnd type="none" w="med" len="med"/>
                    </a:lnT>
                    <a:lnB w="12700" cap="flat" cmpd="sng" algn="ctr">
                      <a:solidFill>
                        <a:srgbClr val="A0A0A0"/>
                      </a:solidFill>
                      <a:prstDash val="solid"/>
                      <a:round/>
                      <a:headEnd type="none" w="med" len="med"/>
                      <a:tailEnd type="none" w="med" len="med"/>
                    </a:lnB>
                  </a:tcPr>
                </a:tc>
              </a:tr>
            </a:tbl>
          </a:graphicData>
        </a:graphic>
      </p:graphicFrame>
      <p:sp>
        <p:nvSpPr>
          <p:cNvPr id="13" name="Shape 10"/>
          <p:cNvSpPr/>
          <p:nvPr/>
        </p:nvSpPr>
        <p:spPr>
          <a:xfrm>
            <a:off x="457200" y="4206240"/>
            <a:ext cx="8229600" cy="457200"/>
          </a:xfrm>
          <a:prstGeom prst="rect">
            <a:avLst/>
          </a:prstGeom>
          <a:solidFill>
            <a:srgbClr val="EEF2F7"/>
          </a:solidFill>
          <a:ln w="12700">
            <a:solidFill>
              <a:srgbClr val="EEF2F7"/>
            </a:solidFill>
            <a:prstDash val="solid"/>
          </a:ln>
        </p:spPr>
      </p:sp>
      <p:sp>
        <p:nvSpPr>
          <p:cNvPr id="14" name="Shape 11"/>
          <p:cNvSpPr/>
          <p:nvPr/>
        </p:nvSpPr>
        <p:spPr>
          <a:xfrm>
            <a:off x="457200" y="4206240"/>
            <a:ext cx="73152" cy="457200"/>
          </a:xfrm>
          <a:prstGeom prst="rect">
            <a:avLst/>
          </a:prstGeom>
          <a:solidFill>
            <a:srgbClr val="2A7F8E"/>
          </a:solidFill>
          <a:ln w="12700">
            <a:solidFill>
              <a:srgbClr val="2A7F8E"/>
            </a:solidFill>
            <a:prstDash val="solid"/>
          </a:ln>
        </p:spPr>
      </p:sp>
      <p:sp>
        <p:nvSpPr>
          <p:cNvPr id="15" name="Text 12"/>
          <p:cNvSpPr txBox="1"/>
          <p:nvPr/>
        </p:nvSpPr>
        <p:spPr>
          <a:xfrm>
            <a:off x="640080" y="4206240"/>
            <a:ext cx="7955280" cy="457200"/>
          </a:xfrm>
          <a:prstGeom prst="rect">
            <a:avLst/>
          </a:prstGeom>
          <a:noFill/>
          <a:ln/>
        </p:spPr>
        <p:txBody>
          <a:bodyPr wrap="square" lIns="0" tIns="0" rIns="0" bIns="0" rtlCol="0" anchor="ctr"/>
          <a:lstStyle/>
          <a:p>
            <a:pPr indent="0" marL="0">
              <a:buNone/>
            </a:pPr>
            <a:r>
              <a:rPr lang="en-US" sz="1400" b="1" dirty="0">
                <a:solidFill>
                  <a:srgbClr val="222222"/>
                </a:solidFill>
                <a:latin typeface="Calibri" pitchFamily="34" charset="0"/>
                <a:ea typeface="Calibri" pitchFamily="34" charset="-122"/>
                <a:cs typeface="Calibri" pitchFamily="34" charset="-120"/>
              </a:rPr>
              <a:t>First step: an 8-week readiness sprint to check our data, people and processes.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8229600" cy="548640"/>
          </a:xfrm>
          <a:prstGeom prst="rect">
            <a:avLst/>
          </a:prstGeom>
          <a:noFill/>
          <a:ln/>
        </p:spPr>
        <p:txBody>
          <a:bodyPr wrap="square" lIns="0" tIns="0" rIns="0" bIns="0" rtlCol="0" anchor="ctr"/>
          <a:lstStyle/>
          <a:p>
            <a:pPr indent="0" marL="0">
              <a:buNone/>
            </a:pPr>
            <a:r>
              <a:rPr lang="en-US" sz="2800" b="1" dirty="0">
                <a:solidFill>
                  <a:srgbClr val="1F3A5F"/>
                </a:solidFill>
                <a:latin typeface="Calibri" pitchFamily="34" charset="0"/>
                <a:ea typeface="Calibri" pitchFamily="34" charset="-122"/>
                <a:cs typeface="Calibri" pitchFamily="34" charset="-120"/>
              </a:rPr>
              <a:t>Three AI Solutions. Humans Decide.</a:t>
            </a:r>
            <a:endParaRPr lang="en-US" sz="2800" dirty="0"/>
          </a:p>
        </p:txBody>
      </p:sp>
      <p:sp>
        <p:nvSpPr>
          <p:cNvPr id="3" name="Shape 1"/>
          <p:cNvSpPr/>
          <p:nvPr/>
        </p:nvSpPr>
        <p:spPr>
          <a:xfrm>
            <a:off x="457200" y="786384"/>
            <a:ext cx="1188720" cy="64008"/>
          </a:xfrm>
          <a:prstGeom prst="rect">
            <a:avLst/>
          </a:prstGeom>
          <a:solidFill>
            <a:srgbClr val="2A7F8E"/>
          </a:solidFill>
          <a:ln w="12700">
            <a:solidFill>
              <a:srgbClr val="2A7F8E"/>
            </a:solidFill>
            <a:prstDash val="solid"/>
          </a:ln>
        </p:spPr>
      </p:sp>
      <p:sp>
        <p:nvSpPr>
          <p:cNvPr id="4" name="Text 2"/>
          <p:cNvSpPr txBox="1"/>
          <p:nvPr/>
        </p:nvSpPr>
        <p:spPr>
          <a:xfrm>
            <a:off x="8321040" y="4846320"/>
            <a:ext cx="365760" cy="228600"/>
          </a:xfrm>
          <a:prstGeom prst="rect">
            <a:avLst/>
          </a:prstGeom>
          <a:noFill/>
          <a:ln/>
        </p:spPr>
        <p:txBody>
          <a:bodyPr wrap="square" lIns="0" tIns="0" rIns="0" bIns="0" rtlCol="0" anchor="ctr"/>
          <a:lstStyle/>
          <a:p>
            <a:pPr algn="r" indent="0" marL="0">
              <a:buNone/>
            </a:pPr>
            <a:r>
              <a:rPr lang="en-US" sz="1000" dirty="0">
                <a:solidFill>
                  <a:srgbClr val="666666"/>
                </a:solidFill>
                <a:latin typeface="Calibri" pitchFamily="34" charset="0"/>
                <a:ea typeface="Calibri" pitchFamily="34" charset="-122"/>
                <a:cs typeface="Calibri" pitchFamily="34" charset="-120"/>
              </a:rPr>
              <a:t>3</a:t>
            </a:r>
            <a:endParaRPr lang="en-US" sz="1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960120"/>
          <a:ext cx="8229600" cy="914400"/>
        </p:xfrm>
        <a:graphic>
          <a:graphicData uri="http://schemas.openxmlformats.org/drawingml/2006/table">
            <a:tbl>
              <a:tblPr/>
              <a:tblGrid>
                <a:gridCol w="1280160"/>
                <a:gridCol w="2377440"/>
                <a:gridCol w="2377440"/>
                <a:gridCol w="2194560"/>
              </a:tblGrid>
              <a:tr h="347472">
                <a:tc>
                  <a:txBody>
                    <a:bodyPr/>
                    <a:lstStyle/>
                    <a:p>
                      <a:pPr indent="0" marL="0">
                        <a:buNone/>
                      </a:pPr>
                      <a:endParaRPr lang="en-US" sz="1400" dirty="0">
                        <a:latin typeface="Calibri" charset="0"/>
                        <a:ea typeface="Calibri" charset="0"/>
                        <a:cs typeface="Calibri" charset="0"/>
                      </a:endParaRPr>
                    </a:p>
                  </a:txBody>
                  <a:tcPr marL="91440" marR="91440" marT="54864" marB="54864" anchor="ctr">
                    <a:lnL w="12700" cap="flat" cmpd="sng" algn="ctr">
                      <a:solidFill>
                        <a:srgbClr val="A0A0A0"/>
                      </a:solidFill>
                      <a:prstDash val="solid"/>
                      <a:round/>
                      <a:headEnd type="none" w="med" len="med"/>
                      <a:tailEnd type="none" w="med" len="med"/>
                    </a:lnL>
                    <a:lnR w="12700" cap="flat" cmpd="sng" algn="ctr">
                      <a:solidFill>
                        <a:srgbClr val="A0A0A0"/>
                      </a:solidFill>
                      <a:prstDash val="solid"/>
                      <a:round/>
                      <a:headEnd type="none" w="med" len="med"/>
                      <a:tailEnd type="none" w="med" len="med"/>
                    </a:lnR>
                    <a:lnT w="12700" cap="flat" cmpd="sng" algn="ctr">
                      <a:solidFill>
                        <a:srgbClr val="A0A0A0"/>
                      </a:solidFill>
                      <a:prstDash val="solid"/>
                      <a:round/>
                      <a:headEnd type="none" w="med" len="med"/>
                      <a:tailEnd type="none" w="med" len="med"/>
                    </a:lnT>
                    <a:lnB w="12700" cap="flat" cmpd="sng" algn="ctr">
                      <a:solidFill>
                        <a:srgbClr val="A0A0A0"/>
                      </a:solidFill>
                      <a:prstDash val="solid"/>
                      <a:round/>
                      <a:headEnd type="none" w="med" len="med"/>
                      <a:tailEnd type="none" w="med" len="med"/>
                    </a:lnB>
                    <a:solidFill>
                      <a:srgbClr val="1F3A5F"/>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1. Fair Hiring</a:t>
                      </a:r>
                      <a:endParaRPr lang="en-US" sz="1400" dirty="0">
                        <a:latin typeface="Calibri" charset="0"/>
                        <a:ea typeface="Calibri" charset="0"/>
                        <a:cs typeface="Calibri" charset="0"/>
                      </a:endParaRPr>
                    </a:p>
                  </a:txBody>
                  <a:tcPr marL="91440" marR="91440" marT="54864" marB="54864" anchor="ctr">
                    <a:lnL w="12700" cap="flat" cmpd="sng" algn="ctr">
                      <a:solidFill>
                        <a:srgbClr val="A0A0A0"/>
                      </a:solidFill>
                      <a:prstDash val="solid"/>
                      <a:round/>
                      <a:headEnd type="none" w="med" len="med"/>
                      <a:tailEnd type="none" w="med" len="med"/>
                    </a:lnL>
                    <a:lnR w="12700" cap="flat" cmpd="sng" algn="ctr">
                      <a:solidFill>
                        <a:srgbClr val="A0A0A0"/>
                      </a:solidFill>
                      <a:prstDash val="solid"/>
                      <a:round/>
                      <a:headEnd type="none" w="med" len="med"/>
                      <a:tailEnd type="none" w="med" len="med"/>
                    </a:lnR>
                    <a:lnT w="12700" cap="flat" cmpd="sng" algn="ctr">
                      <a:solidFill>
                        <a:srgbClr val="A0A0A0"/>
                      </a:solidFill>
                      <a:prstDash val="solid"/>
                      <a:round/>
                      <a:headEnd type="none" w="med" len="med"/>
                      <a:tailEnd type="none" w="med" len="med"/>
                    </a:lnT>
                    <a:lnB w="12700" cap="flat" cmpd="sng" algn="ctr">
                      <a:solidFill>
                        <a:srgbClr val="A0A0A0"/>
                      </a:solidFill>
                      <a:prstDash val="solid"/>
                      <a:round/>
                      <a:headEnd type="none" w="med" len="med"/>
                      <a:tailEnd type="none" w="med" len="med"/>
                    </a:lnB>
                    <a:solidFill>
                      <a:srgbClr val="1F3A5F"/>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2. Retention Alerts</a:t>
                      </a:r>
                      <a:endParaRPr lang="en-US" sz="1400" dirty="0">
                        <a:latin typeface="Calibri" charset="0"/>
                        <a:ea typeface="Calibri" charset="0"/>
                        <a:cs typeface="Calibri" charset="0"/>
                      </a:endParaRPr>
                    </a:p>
                  </a:txBody>
                  <a:tcPr marL="91440" marR="91440" marT="54864" marB="54864" anchor="ctr">
                    <a:lnL w="12700" cap="flat" cmpd="sng" algn="ctr">
                      <a:solidFill>
                        <a:srgbClr val="A0A0A0"/>
                      </a:solidFill>
                      <a:prstDash val="solid"/>
                      <a:round/>
                      <a:headEnd type="none" w="med" len="med"/>
                      <a:tailEnd type="none" w="med" len="med"/>
                    </a:lnL>
                    <a:lnR w="12700" cap="flat" cmpd="sng" algn="ctr">
                      <a:solidFill>
                        <a:srgbClr val="A0A0A0"/>
                      </a:solidFill>
                      <a:prstDash val="solid"/>
                      <a:round/>
                      <a:headEnd type="none" w="med" len="med"/>
                      <a:tailEnd type="none" w="med" len="med"/>
                    </a:lnR>
                    <a:lnT w="12700" cap="flat" cmpd="sng" algn="ctr">
                      <a:solidFill>
                        <a:srgbClr val="A0A0A0"/>
                      </a:solidFill>
                      <a:prstDash val="solid"/>
                      <a:round/>
                      <a:headEnd type="none" w="med" len="med"/>
                      <a:tailEnd type="none" w="med" len="med"/>
                    </a:lnT>
                    <a:lnB w="12700" cap="flat" cmpd="sng" algn="ctr">
                      <a:solidFill>
                        <a:srgbClr val="A0A0A0"/>
                      </a:solidFill>
                      <a:prstDash val="solid"/>
                      <a:round/>
                      <a:headEnd type="none" w="med" len="med"/>
                      <a:tailEnd type="none" w="med" len="med"/>
                    </a:lnB>
                    <a:solidFill>
                      <a:srgbClr val="1F3A5F"/>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3. Growth AI</a:t>
                      </a:r>
                      <a:endParaRPr lang="en-US" sz="1400" dirty="0">
                        <a:latin typeface="Calibri" charset="0"/>
                        <a:ea typeface="Calibri" charset="0"/>
                        <a:cs typeface="Calibri" charset="0"/>
                      </a:endParaRPr>
                    </a:p>
                  </a:txBody>
                  <a:tcPr marL="91440" marR="91440" marT="54864" marB="54864" anchor="ctr">
                    <a:lnL w="12700" cap="flat" cmpd="sng" algn="ctr">
                      <a:solidFill>
                        <a:srgbClr val="A0A0A0"/>
                      </a:solidFill>
                      <a:prstDash val="solid"/>
                      <a:round/>
                      <a:headEnd type="none" w="med" len="med"/>
                      <a:tailEnd type="none" w="med" len="med"/>
                    </a:lnL>
                    <a:lnR w="12700" cap="flat" cmpd="sng" algn="ctr">
                      <a:solidFill>
                        <a:srgbClr val="A0A0A0"/>
                      </a:solidFill>
                      <a:prstDash val="solid"/>
                      <a:round/>
                      <a:headEnd type="none" w="med" len="med"/>
                      <a:tailEnd type="none" w="med" len="med"/>
                    </a:lnR>
                    <a:lnT w="12700" cap="flat" cmpd="sng" algn="ctr">
                      <a:solidFill>
                        <a:srgbClr val="A0A0A0"/>
                      </a:solidFill>
                      <a:prstDash val="solid"/>
                      <a:round/>
                      <a:headEnd type="none" w="med" len="med"/>
                      <a:tailEnd type="none" w="med" len="med"/>
                    </a:lnT>
                    <a:lnB w="12700" cap="flat" cmpd="sng" algn="ctr">
                      <a:solidFill>
                        <a:srgbClr val="A0A0A0"/>
                      </a:solidFill>
                      <a:prstDash val="solid"/>
                      <a:round/>
                      <a:headEnd type="none" w="med" len="med"/>
                      <a:tailEnd type="none" w="med" len="med"/>
                    </a:lnB>
                    <a:solidFill>
                      <a:srgbClr val="1F3A5F"/>
                    </a:solidFill>
                  </a:tcPr>
                </a:tc>
              </a:tr>
              <a:tr h="685800">
                <a:tc>
                  <a:txBody>
                    <a:bodyPr/>
                    <a:lstStyle/>
                    <a:p>
                      <a:pPr indent="0" marL="0">
                        <a:buNone/>
                      </a:pPr>
                      <a:r>
                        <a:rPr lang="en-US" sz="1300" b="1" dirty="0">
                          <a:solidFill>
                            <a:srgbClr val="222222"/>
                          </a:solidFill>
                          <a:latin typeface="Calibri" pitchFamily="34" charset="0"/>
                          <a:ea typeface="Calibri" pitchFamily="34" charset="-122"/>
                          <a:cs typeface="Calibri" pitchFamily="34" charset="-120"/>
                        </a:rPr>
                        <a:t>What it does</a:t>
                      </a:r>
                      <a:endParaRPr lang="en-US" sz="1300" dirty="0">
                        <a:latin typeface="Calibri" charset="0"/>
                        <a:ea typeface="Calibri" charset="0"/>
                        <a:cs typeface="Calibri" charset="0"/>
                      </a:endParaRPr>
                    </a:p>
                  </a:txBody>
                  <a:tcPr marL="91440" marR="91440" marT="54864" marB="54864" anchor="t">
                    <a:lnL w="12700" cap="flat" cmpd="sng" algn="ctr">
                      <a:solidFill>
                        <a:srgbClr val="A0A0A0"/>
                      </a:solidFill>
                      <a:prstDash val="solid"/>
                      <a:round/>
                      <a:headEnd type="none" w="med" len="med"/>
                      <a:tailEnd type="none" w="med" len="med"/>
                    </a:lnL>
                    <a:lnR w="12700" cap="flat" cmpd="sng" algn="ctr">
                      <a:solidFill>
                        <a:srgbClr val="A0A0A0"/>
                      </a:solidFill>
                      <a:prstDash val="solid"/>
                      <a:round/>
                      <a:headEnd type="none" w="med" len="med"/>
                      <a:tailEnd type="none" w="med" len="med"/>
                    </a:lnR>
                    <a:lnT w="12700" cap="flat" cmpd="sng" algn="ctr">
                      <a:solidFill>
                        <a:srgbClr val="A0A0A0"/>
                      </a:solidFill>
                      <a:prstDash val="solid"/>
                      <a:round/>
                      <a:headEnd type="none" w="med" len="med"/>
                      <a:tailEnd type="none" w="med" len="med"/>
                    </a:lnT>
                    <a:lnB w="12700" cap="flat" cmpd="sng" algn="ctr">
                      <a:solidFill>
                        <a:srgbClr val="A0A0A0"/>
                      </a:solidFill>
                      <a:prstDash val="solid"/>
                      <a:round/>
                      <a:headEnd type="none" w="med" len="med"/>
                      <a:tailEnd type="none" w="med" len="med"/>
                    </a:lnB>
                    <a:solidFill>
                      <a:srgbClr val="EEF2F7"/>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Matches CVs to job skills, not college names</a:t>
                      </a:r>
                      <a:endParaRPr lang="en-US" sz="1300" dirty="0">
                        <a:latin typeface="Calibri" charset="0"/>
                        <a:ea typeface="Calibri" charset="0"/>
                        <a:cs typeface="Calibri" charset="0"/>
                      </a:endParaRPr>
                    </a:p>
                  </a:txBody>
                  <a:tcPr marL="91440" marR="91440" marT="54864" marB="54864" anchor="t">
                    <a:lnL w="12700" cap="flat" cmpd="sng" algn="ctr">
                      <a:solidFill>
                        <a:srgbClr val="A0A0A0"/>
                      </a:solidFill>
                      <a:prstDash val="solid"/>
                      <a:round/>
                      <a:headEnd type="none" w="med" len="med"/>
                      <a:tailEnd type="none" w="med" len="med"/>
                    </a:lnL>
                    <a:lnR w="12700" cap="flat" cmpd="sng" algn="ctr">
                      <a:solidFill>
                        <a:srgbClr val="A0A0A0"/>
                      </a:solidFill>
                      <a:prstDash val="solid"/>
                      <a:round/>
                      <a:headEnd type="none" w="med" len="med"/>
                      <a:tailEnd type="none" w="med" len="med"/>
                    </a:lnR>
                    <a:lnT w="12700" cap="flat" cmpd="sng" algn="ctr">
                      <a:solidFill>
                        <a:srgbClr val="A0A0A0"/>
                      </a:solidFill>
                      <a:prstDash val="solid"/>
                      <a:round/>
                      <a:headEnd type="none" w="med" len="med"/>
                      <a:tailEnd type="none" w="med" len="med"/>
                    </a:lnT>
                    <a:lnB w="12700" cap="flat" cmpd="sng" algn="ctr">
                      <a:solidFill>
                        <a:srgbClr val="A0A0A0"/>
                      </a:solidFill>
                      <a:prstDash val="solid"/>
                      <a:round/>
                      <a:headEnd type="none" w="med" len="med"/>
                      <a:tailEnd type="none" w="med" len="med"/>
                    </a:lnB>
                    <a:solidFill>
                      <a:srgbClr val="EEF2F7"/>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Spots early risk of people leaving, at team level</a:t>
                      </a:r>
                      <a:endParaRPr lang="en-US" sz="1300" dirty="0">
                        <a:latin typeface="Calibri" charset="0"/>
                        <a:ea typeface="Calibri" charset="0"/>
                        <a:cs typeface="Calibri" charset="0"/>
                      </a:endParaRPr>
                    </a:p>
                  </a:txBody>
                  <a:tcPr marL="91440" marR="91440" marT="54864" marB="54864" anchor="t">
                    <a:lnL w="12700" cap="flat" cmpd="sng" algn="ctr">
                      <a:solidFill>
                        <a:srgbClr val="A0A0A0"/>
                      </a:solidFill>
                      <a:prstDash val="solid"/>
                      <a:round/>
                      <a:headEnd type="none" w="med" len="med"/>
                      <a:tailEnd type="none" w="med" len="med"/>
                    </a:lnL>
                    <a:lnR w="12700" cap="flat" cmpd="sng" algn="ctr">
                      <a:solidFill>
                        <a:srgbClr val="A0A0A0"/>
                      </a:solidFill>
                      <a:prstDash val="solid"/>
                      <a:round/>
                      <a:headEnd type="none" w="med" len="med"/>
                      <a:tailEnd type="none" w="med" len="med"/>
                    </a:lnR>
                    <a:lnT w="12700" cap="flat" cmpd="sng" algn="ctr">
                      <a:solidFill>
                        <a:srgbClr val="A0A0A0"/>
                      </a:solidFill>
                      <a:prstDash val="solid"/>
                      <a:round/>
                      <a:headEnd type="none" w="med" len="med"/>
                      <a:tailEnd type="none" w="med" len="med"/>
                    </a:lnT>
                    <a:lnB w="12700" cap="flat" cmpd="sng" algn="ctr">
                      <a:solidFill>
                        <a:srgbClr val="A0A0A0"/>
                      </a:solidFill>
                      <a:prstDash val="solid"/>
                      <a:round/>
                      <a:headEnd type="none" w="med" len="med"/>
                      <a:tailEnd type="none" w="med" len="med"/>
                    </a:lnB>
                    <a:solidFill>
                      <a:srgbClr val="EEF2F7"/>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Suggests learning, projects and roles for each person</a:t>
                      </a:r>
                      <a:endParaRPr lang="en-US" sz="1300" dirty="0">
                        <a:latin typeface="Calibri" charset="0"/>
                        <a:ea typeface="Calibri" charset="0"/>
                        <a:cs typeface="Calibri" charset="0"/>
                      </a:endParaRPr>
                    </a:p>
                  </a:txBody>
                  <a:tcPr marL="91440" marR="91440" marT="54864" marB="54864" anchor="t">
                    <a:lnL w="12700" cap="flat" cmpd="sng" algn="ctr">
                      <a:solidFill>
                        <a:srgbClr val="A0A0A0"/>
                      </a:solidFill>
                      <a:prstDash val="solid"/>
                      <a:round/>
                      <a:headEnd type="none" w="med" len="med"/>
                      <a:tailEnd type="none" w="med" len="med"/>
                    </a:lnL>
                    <a:lnR w="12700" cap="flat" cmpd="sng" algn="ctr">
                      <a:solidFill>
                        <a:srgbClr val="A0A0A0"/>
                      </a:solidFill>
                      <a:prstDash val="solid"/>
                      <a:round/>
                      <a:headEnd type="none" w="med" len="med"/>
                      <a:tailEnd type="none" w="med" len="med"/>
                    </a:lnR>
                    <a:lnT w="12700" cap="flat" cmpd="sng" algn="ctr">
                      <a:solidFill>
                        <a:srgbClr val="A0A0A0"/>
                      </a:solidFill>
                      <a:prstDash val="solid"/>
                      <a:round/>
                      <a:headEnd type="none" w="med" len="med"/>
                      <a:tailEnd type="none" w="med" len="med"/>
                    </a:lnT>
                    <a:lnB w="12700" cap="flat" cmpd="sng" algn="ctr">
                      <a:solidFill>
                        <a:srgbClr val="A0A0A0"/>
                      </a:solidFill>
                      <a:prstDash val="solid"/>
                      <a:round/>
                      <a:headEnd type="none" w="med" len="med"/>
                      <a:tailEnd type="none" w="med" len="med"/>
                    </a:lnB>
                    <a:solidFill>
                      <a:srgbClr val="EEF2F7"/>
                    </a:solidFill>
                  </a:tcPr>
                </a:tc>
              </a:tr>
              <a:tr h="868680">
                <a:tc>
                  <a:txBody>
                    <a:bodyPr/>
                    <a:lstStyle/>
                    <a:p>
                      <a:pPr indent="0" marL="0">
                        <a:buNone/>
                      </a:pPr>
                      <a:r>
                        <a:rPr lang="en-US" sz="1300" b="1" dirty="0">
                          <a:solidFill>
                            <a:srgbClr val="222222"/>
                          </a:solidFill>
                          <a:latin typeface="Calibri" pitchFamily="34" charset="0"/>
                          <a:ea typeface="Calibri" pitchFamily="34" charset="-122"/>
                          <a:cs typeface="Calibri" pitchFamily="34" charset="-120"/>
                        </a:rPr>
                        <a:t>How</a:t>
                      </a:r>
                      <a:endParaRPr lang="en-US" sz="1300" dirty="0">
                        <a:latin typeface="Calibri" charset="0"/>
                        <a:ea typeface="Calibri" charset="0"/>
                        <a:cs typeface="Calibri" charset="0"/>
                      </a:endParaRPr>
                    </a:p>
                  </a:txBody>
                  <a:tcPr marL="91440" marR="91440" marT="54864" marB="54864" anchor="t">
                    <a:lnL w="12700" cap="flat" cmpd="sng" algn="ctr">
                      <a:solidFill>
                        <a:srgbClr val="A0A0A0"/>
                      </a:solidFill>
                      <a:prstDash val="solid"/>
                      <a:round/>
                      <a:headEnd type="none" w="med" len="med"/>
                      <a:tailEnd type="none" w="med" len="med"/>
                    </a:lnL>
                    <a:lnR w="12700" cap="flat" cmpd="sng" algn="ctr">
                      <a:solidFill>
                        <a:srgbClr val="A0A0A0"/>
                      </a:solidFill>
                      <a:prstDash val="solid"/>
                      <a:round/>
                      <a:headEnd type="none" w="med" len="med"/>
                      <a:tailEnd type="none" w="med" len="med"/>
                    </a:lnR>
                    <a:lnT w="12700" cap="flat" cmpd="sng" algn="ctr">
                      <a:solidFill>
                        <a:srgbClr val="A0A0A0"/>
                      </a:solidFill>
                      <a:prstDash val="solid"/>
                      <a:round/>
                      <a:headEnd type="none" w="med" len="med"/>
                      <a:tailEnd type="none" w="med" len="med"/>
                    </a:lnT>
                    <a:lnB w="12700" cap="flat" cmpd="sng" algn="ctr">
                      <a:solidFill>
                        <a:srgbClr val="A0A0A0"/>
                      </a:solidFill>
                      <a:prstDash val="solid"/>
                      <a:round/>
                      <a:headEnd type="none" w="med" len="med"/>
                      <a:tailEnd type="none" w="med" len="med"/>
                    </a:lnB>
                    <a:solidFill>
                      <a:srgbClr val="EEF2F7"/>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Common skills list, fixed scoring guide, screening in regional languages</a:t>
                      </a:r>
                      <a:endParaRPr lang="en-US" sz="1300" dirty="0">
                        <a:latin typeface="Calibri" charset="0"/>
                        <a:ea typeface="Calibri" charset="0"/>
                        <a:cs typeface="Calibri" charset="0"/>
                      </a:endParaRPr>
                    </a:p>
                  </a:txBody>
                  <a:tcPr marL="91440" marR="91440" marT="54864" marB="54864" anchor="t">
                    <a:lnL w="12700" cap="flat" cmpd="sng" algn="ctr">
                      <a:solidFill>
                        <a:srgbClr val="A0A0A0"/>
                      </a:solidFill>
                      <a:prstDash val="solid"/>
                      <a:round/>
                      <a:headEnd type="none" w="med" len="med"/>
                      <a:tailEnd type="none" w="med" len="med"/>
                    </a:lnL>
                    <a:lnR w="12700" cap="flat" cmpd="sng" algn="ctr">
                      <a:solidFill>
                        <a:srgbClr val="A0A0A0"/>
                      </a:solidFill>
                      <a:prstDash val="solid"/>
                      <a:round/>
                      <a:headEnd type="none" w="med" len="med"/>
                      <a:tailEnd type="none" w="med" len="med"/>
                    </a:lnR>
                    <a:lnT w="12700" cap="flat" cmpd="sng" algn="ctr">
                      <a:solidFill>
                        <a:srgbClr val="A0A0A0"/>
                      </a:solidFill>
                      <a:prstDash val="solid"/>
                      <a:round/>
                      <a:headEnd type="none" w="med" len="med"/>
                      <a:tailEnd type="none" w="med" len="med"/>
                    </a:lnT>
                    <a:lnB w="12700" cap="flat" cmpd="sng" algn="ctr">
                      <a:solidFill>
                        <a:srgbClr val="A0A0A0"/>
                      </a:solidFill>
                      <a:prstDash val="solid"/>
                      <a:round/>
                      <a:headEnd type="none" w="med" len="med"/>
                      <a:tailEnd type="none" w="med" len="med"/>
                    </a:lnB>
                    <a:solidFill>
                      <a:srgbClr val="EEF2F7"/>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Shows the reasons behind the risk; leads to stay conversations</a:t>
                      </a:r>
                      <a:endParaRPr lang="en-US" sz="1300" dirty="0">
                        <a:latin typeface="Calibri" charset="0"/>
                        <a:ea typeface="Calibri" charset="0"/>
                        <a:cs typeface="Calibri" charset="0"/>
                      </a:endParaRPr>
                    </a:p>
                  </a:txBody>
                  <a:tcPr marL="91440" marR="91440" marT="54864" marB="54864" anchor="t">
                    <a:lnL w="12700" cap="flat" cmpd="sng" algn="ctr">
                      <a:solidFill>
                        <a:srgbClr val="A0A0A0"/>
                      </a:solidFill>
                      <a:prstDash val="solid"/>
                      <a:round/>
                      <a:headEnd type="none" w="med" len="med"/>
                      <a:tailEnd type="none" w="med" len="med"/>
                    </a:lnL>
                    <a:lnR w="12700" cap="flat" cmpd="sng" algn="ctr">
                      <a:solidFill>
                        <a:srgbClr val="A0A0A0"/>
                      </a:solidFill>
                      <a:prstDash val="solid"/>
                      <a:round/>
                      <a:headEnd type="none" w="med" len="med"/>
                      <a:tailEnd type="none" w="med" len="med"/>
                    </a:lnR>
                    <a:lnT w="12700" cap="flat" cmpd="sng" algn="ctr">
                      <a:solidFill>
                        <a:srgbClr val="A0A0A0"/>
                      </a:solidFill>
                      <a:prstDash val="solid"/>
                      <a:round/>
                      <a:headEnd type="none" w="med" len="med"/>
                      <a:tailEnd type="none" w="med" len="med"/>
                    </a:lnT>
                    <a:lnB w="12700" cap="flat" cmpd="sng" algn="ctr">
                      <a:solidFill>
                        <a:srgbClr val="A0A0A0"/>
                      </a:solidFill>
                      <a:prstDash val="solid"/>
                      <a:round/>
                      <a:headEnd type="none" w="med" len="med"/>
                      <a:tailEnd type="none" w="med" len="med"/>
                    </a:lnB>
                    <a:solidFill>
                      <a:srgbClr val="EEF2F7"/>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Learning paths, internal projects, role suggestions</a:t>
                      </a:r>
                      <a:endParaRPr lang="en-US" sz="1300" dirty="0">
                        <a:latin typeface="Calibri" charset="0"/>
                        <a:ea typeface="Calibri" charset="0"/>
                        <a:cs typeface="Calibri" charset="0"/>
                      </a:endParaRPr>
                    </a:p>
                  </a:txBody>
                  <a:tcPr marL="91440" marR="91440" marT="54864" marB="54864" anchor="t">
                    <a:lnL w="12700" cap="flat" cmpd="sng" algn="ctr">
                      <a:solidFill>
                        <a:srgbClr val="A0A0A0"/>
                      </a:solidFill>
                      <a:prstDash val="solid"/>
                      <a:round/>
                      <a:headEnd type="none" w="med" len="med"/>
                      <a:tailEnd type="none" w="med" len="med"/>
                    </a:lnL>
                    <a:lnR w="12700" cap="flat" cmpd="sng" algn="ctr">
                      <a:solidFill>
                        <a:srgbClr val="A0A0A0"/>
                      </a:solidFill>
                      <a:prstDash val="solid"/>
                      <a:round/>
                      <a:headEnd type="none" w="med" len="med"/>
                      <a:tailEnd type="none" w="med" len="med"/>
                    </a:lnR>
                    <a:lnT w="12700" cap="flat" cmpd="sng" algn="ctr">
                      <a:solidFill>
                        <a:srgbClr val="A0A0A0"/>
                      </a:solidFill>
                      <a:prstDash val="solid"/>
                      <a:round/>
                      <a:headEnd type="none" w="med" len="med"/>
                      <a:tailEnd type="none" w="med" len="med"/>
                    </a:lnT>
                    <a:lnB w="12700" cap="flat" cmpd="sng" algn="ctr">
                      <a:solidFill>
                        <a:srgbClr val="A0A0A0"/>
                      </a:solidFill>
                      <a:prstDash val="solid"/>
                      <a:round/>
                      <a:headEnd type="none" w="med" len="med"/>
                      <a:tailEnd type="none" w="med" len="med"/>
                    </a:lnB>
                    <a:solidFill>
                      <a:srgbClr val="EEF2F7"/>
                    </a:solidFill>
                  </a:tcPr>
                </a:tc>
              </a:tr>
              <a:tr h="594360">
                <a:tc>
                  <a:txBody>
                    <a:bodyPr/>
                    <a:lstStyle/>
                    <a:p>
                      <a:pPr indent="0" marL="0">
                        <a:buNone/>
                      </a:pPr>
                      <a:r>
                        <a:rPr lang="en-US" sz="1300" b="1" dirty="0">
                          <a:solidFill>
                            <a:srgbClr val="222222"/>
                          </a:solidFill>
                          <a:latin typeface="Calibri" pitchFamily="34" charset="0"/>
                          <a:ea typeface="Calibri" pitchFamily="34" charset="-122"/>
                          <a:cs typeface="Calibri" pitchFamily="34" charset="-120"/>
                        </a:rPr>
                        <a:t>Human role</a:t>
                      </a:r>
                      <a:endParaRPr lang="en-US" sz="1300" dirty="0">
                        <a:latin typeface="Calibri" charset="0"/>
                        <a:ea typeface="Calibri" charset="0"/>
                        <a:cs typeface="Calibri" charset="0"/>
                      </a:endParaRPr>
                    </a:p>
                  </a:txBody>
                  <a:tcPr marL="91440" marR="91440" marT="54864" marB="54864" anchor="t">
                    <a:lnL w="12700" cap="flat" cmpd="sng" algn="ctr">
                      <a:solidFill>
                        <a:srgbClr val="A0A0A0"/>
                      </a:solidFill>
                      <a:prstDash val="solid"/>
                      <a:round/>
                      <a:headEnd type="none" w="med" len="med"/>
                      <a:tailEnd type="none" w="med" len="med"/>
                    </a:lnL>
                    <a:lnR w="12700" cap="flat" cmpd="sng" algn="ctr">
                      <a:solidFill>
                        <a:srgbClr val="A0A0A0"/>
                      </a:solidFill>
                      <a:prstDash val="solid"/>
                      <a:round/>
                      <a:headEnd type="none" w="med" len="med"/>
                      <a:tailEnd type="none" w="med" len="med"/>
                    </a:lnR>
                    <a:lnT w="12700" cap="flat" cmpd="sng" algn="ctr">
                      <a:solidFill>
                        <a:srgbClr val="A0A0A0"/>
                      </a:solidFill>
                      <a:prstDash val="solid"/>
                      <a:round/>
                      <a:headEnd type="none" w="med" len="med"/>
                      <a:tailEnd type="none" w="med" len="med"/>
                    </a:lnT>
                    <a:lnB w="12700" cap="flat" cmpd="sng" algn="ctr">
                      <a:solidFill>
                        <a:srgbClr val="A0A0A0"/>
                      </a:solidFill>
                      <a:prstDash val="solid"/>
                      <a:round/>
                      <a:headEnd type="none" w="med" len="med"/>
                      <a:tailEnd type="none" w="med" len="med"/>
                    </a:lnB>
                    <a:solidFill>
                      <a:srgbClr val="EEF2F7"/>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Recruiter makes the final call</a:t>
                      </a:r>
                      <a:endParaRPr lang="en-US" sz="1300" dirty="0">
                        <a:latin typeface="Calibri" charset="0"/>
                        <a:ea typeface="Calibri" charset="0"/>
                        <a:cs typeface="Calibri" charset="0"/>
                      </a:endParaRPr>
                    </a:p>
                  </a:txBody>
                  <a:tcPr marL="91440" marR="91440" marT="54864" marB="54864" anchor="t">
                    <a:lnL w="12700" cap="flat" cmpd="sng" algn="ctr">
                      <a:solidFill>
                        <a:srgbClr val="A0A0A0"/>
                      </a:solidFill>
                      <a:prstDash val="solid"/>
                      <a:round/>
                      <a:headEnd type="none" w="med" len="med"/>
                      <a:tailEnd type="none" w="med" len="med"/>
                    </a:lnL>
                    <a:lnR w="12700" cap="flat" cmpd="sng" algn="ctr">
                      <a:solidFill>
                        <a:srgbClr val="A0A0A0"/>
                      </a:solidFill>
                      <a:prstDash val="solid"/>
                      <a:round/>
                      <a:headEnd type="none" w="med" len="med"/>
                      <a:tailEnd type="none" w="med" len="med"/>
                    </a:lnR>
                    <a:lnT w="12700" cap="flat" cmpd="sng" algn="ctr">
                      <a:solidFill>
                        <a:srgbClr val="A0A0A0"/>
                      </a:solidFill>
                      <a:prstDash val="solid"/>
                      <a:round/>
                      <a:headEnd type="none" w="med" len="med"/>
                      <a:tailEnd type="none" w="med" len="med"/>
                    </a:lnT>
                    <a:lnB w="12700" cap="flat" cmpd="sng" algn="ctr">
                      <a:solidFill>
                        <a:srgbClr val="A0A0A0"/>
                      </a:solidFill>
                      <a:prstDash val="solid"/>
                      <a:round/>
                      <a:headEnd type="none" w="med" len="med"/>
                      <a:tailEnd type="none" w="med" len="med"/>
                    </a:lnB>
                    <a:solidFill>
                      <a:srgbClr val="EEF2F7"/>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HR supports; never punishes</a:t>
                      </a:r>
                      <a:endParaRPr lang="en-US" sz="1300" dirty="0">
                        <a:latin typeface="Calibri" charset="0"/>
                        <a:ea typeface="Calibri" charset="0"/>
                        <a:cs typeface="Calibri" charset="0"/>
                      </a:endParaRPr>
                    </a:p>
                  </a:txBody>
                  <a:tcPr marL="91440" marR="91440" marT="54864" marB="54864" anchor="t">
                    <a:lnL w="12700" cap="flat" cmpd="sng" algn="ctr">
                      <a:solidFill>
                        <a:srgbClr val="A0A0A0"/>
                      </a:solidFill>
                      <a:prstDash val="solid"/>
                      <a:round/>
                      <a:headEnd type="none" w="med" len="med"/>
                      <a:tailEnd type="none" w="med" len="med"/>
                    </a:lnL>
                    <a:lnR w="12700" cap="flat" cmpd="sng" algn="ctr">
                      <a:solidFill>
                        <a:srgbClr val="A0A0A0"/>
                      </a:solidFill>
                      <a:prstDash val="solid"/>
                      <a:round/>
                      <a:headEnd type="none" w="med" len="med"/>
                      <a:tailEnd type="none" w="med" len="med"/>
                    </a:lnR>
                    <a:lnT w="12700" cap="flat" cmpd="sng" algn="ctr">
                      <a:solidFill>
                        <a:srgbClr val="A0A0A0"/>
                      </a:solidFill>
                      <a:prstDash val="solid"/>
                      <a:round/>
                      <a:headEnd type="none" w="med" len="med"/>
                      <a:tailEnd type="none" w="med" len="med"/>
                    </a:lnT>
                    <a:lnB w="12700" cap="flat" cmpd="sng" algn="ctr">
                      <a:solidFill>
                        <a:srgbClr val="A0A0A0"/>
                      </a:solidFill>
                      <a:prstDash val="solid"/>
                      <a:round/>
                      <a:headEnd type="none" w="med" len="med"/>
                      <a:tailEnd type="none" w="med" len="med"/>
                    </a:lnB>
                    <a:solidFill>
                      <a:srgbClr val="EEF2F7"/>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Employee chooses with the manager</a:t>
                      </a:r>
                      <a:endParaRPr lang="en-US" sz="1300" dirty="0">
                        <a:latin typeface="Calibri" charset="0"/>
                        <a:ea typeface="Calibri" charset="0"/>
                        <a:cs typeface="Calibri" charset="0"/>
                      </a:endParaRPr>
                    </a:p>
                  </a:txBody>
                  <a:tcPr marL="91440" marR="91440" marT="54864" marB="54864" anchor="t">
                    <a:lnL w="12700" cap="flat" cmpd="sng" algn="ctr">
                      <a:solidFill>
                        <a:srgbClr val="A0A0A0"/>
                      </a:solidFill>
                      <a:prstDash val="solid"/>
                      <a:round/>
                      <a:headEnd type="none" w="med" len="med"/>
                      <a:tailEnd type="none" w="med" len="med"/>
                    </a:lnL>
                    <a:lnR w="12700" cap="flat" cmpd="sng" algn="ctr">
                      <a:solidFill>
                        <a:srgbClr val="A0A0A0"/>
                      </a:solidFill>
                      <a:prstDash val="solid"/>
                      <a:round/>
                      <a:headEnd type="none" w="med" len="med"/>
                      <a:tailEnd type="none" w="med" len="med"/>
                    </a:lnR>
                    <a:lnT w="12700" cap="flat" cmpd="sng" algn="ctr">
                      <a:solidFill>
                        <a:srgbClr val="A0A0A0"/>
                      </a:solidFill>
                      <a:prstDash val="solid"/>
                      <a:round/>
                      <a:headEnd type="none" w="med" len="med"/>
                      <a:tailEnd type="none" w="med" len="med"/>
                    </a:lnT>
                    <a:lnB w="12700" cap="flat" cmpd="sng" algn="ctr">
                      <a:solidFill>
                        <a:srgbClr val="A0A0A0"/>
                      </a:solidFill>
                      <a:prstDash val="solid"/>
                      <a:round/>
                      <a:headEnd type="none" w="med" len="med"/>
                      <a:tailEnd type="none" w="med" len="med"/>
                    </a:lnB>
                    <a:solidFill>
                      <a:srgbClr val="EEF2F7"/>
                    </a:solidFill>
                  </a:tcPr>
                </a:tc>
              </a:tr>
            </a:tbl>
          </a:graphicData>
        </a:graphic>
      </p:graphicFrame>
      <p:sp>
        <p:nvSpPr>
          <p:cNvPr id="6" name="Shape 3"/>
          <p:cNvSpPr/>
          <p:nvPr/>
        </p:nvSpPr>
        <p:spPr>
          <a:xfrm>
            <a:off x="457200" y="3657600"/>
            <a:ext cx="3931920" cy="1005840"/>
          </a:xfrm>
          <a:prstGeom prst="rect">
            <a:avLst/>
          </a:prstGeom>
          <a:solidFill>
            <a:srgbClr val="EEF2F7"/>
          </a:solidFill>
          <a:ln w="12700">
            <a:solidFill>
              <a:srgbClr val="EEF2F7"/>
            </a:solidFill>
            <a:prstDash val="solid"/>
          </a:ln>
        </p:spPr>
      </p:sp>
      <p:sp>
        <p:nvSpPr>
          <p:cNvPr id="7" name="Shape 4"/>
          <p:cNvSpPr/>
          <p:nvPr/>
        </p:nvSpPr>
        <p:spPr>
          <a:xfrm>
            <a:off x="457200" y="3657600"/>
            <a:ext cx="73152" cy="1005840"/>
          </a:xfrm>
          <a:prstGeom prst="rect">
            <a:avLst/>
          </a:prstGeom>
          <a:solidFill>
            <a:srgbClr val="1F3A5F"/>
          </a:solidFill>
          <a:ln w="12700">
            <a:solidFill>
              <a:srgbClr val="1F3A5F"/>
            </a:solidFill>
            <a:prstDash val="solid"/>
          </a:ln>
        </p:spPr>
      </p:sp>
      <p:sp>
        <p:nvSpPr>
          <p:cNvPr id="8" name="Text 5"/>
          <p:cNvSpPr txBox="1"/>
          <p:nvPr/>
        </p:nvSpPr>
        <p:spPr>
          <a:xfrm>
            <a:off x="640080" y="3657600"/>
            <a:ext cx="3657600" cy="1005840"/>
          </a:xfrm>
          <a:prstGeom prst="rect">
            <a:avLst/>
          </a:prstGeom>
          <a:noFill/>
          <a:ln/>
        </p:spPr>
        <p:txBody>
          <a:bodyPr wrap="square" lIns="0" tIns="0" rIns="0" bIns="0" rtlCol="0" anchor="ctr"/>
          <a:lstStyle/>
          <a:p>
            <a:pPr indent="0" marL="0">
              <a:buNone/>
            </a:pPr>
            <a:r>
              <a:rPr lang="en-US" sz="1400" b="1" dirty="0">
                <a:solidFill>
                  <a:srgbClr val="222222"/>
                </a:solidFill>
                <a:latin typeface="Calibri" pitchFamily="34" charset="0"/>
                <a:ea typeface="Calibri" pitchFamily="34" charset="-122"/>
                <a:cs typeface="Calibri" pitchFamily="34" charset="-120"/>
              </a:rPr>
              <a:t>One governed people-data platform connects all three.</a:t>
            </a:r>
            <a:endParaRPr lang="en-US" sz="1400" dirty="0"/>
          </a:p>
        </p:txBody>
      </p:sp>
      <p:sp>
        <p:nvSpPr>
          <p:cNvPr id="9" name="Shape 6"/>
          <p:cNvSpPr/>
          <p:nvPr/>
        </p:nvSpPr>
        <p:spPr>
          <a:xfrm>
            <a:off x="4572000" y="3657600"/>
            <a:ext cx="4114800" cy="1005840"/>
          </a:xfrm>
          <a:prstGeom prst="rect">
            <a:avLst/>
          </a:prstGeom>
          <a:solidFill>
            <a:srgbClr val="EEF2F7"/>
          </a:solidFill>
          <a:ln w="12700">
            <a:solidFill>
              <a:srgbClr val="EEF2F7"/>
            </a:solidFill>
            <a:prstDash val="solid"/>
          </a:ln>
        </p:spPr>
      </p:sp>
      <p:sp>
        <p:nvSpPr>
          <p:cNvPr id="10" name="Shape 7"/>
          <p:cNvSpPr/>
          <p:nvPr/>
        </p:nvSpPr>
        <p:spPr>
          <a:xfrm>
            <a:off x="4572000" y="3657600"/>
            <a:ext cx="73152" cy="1005840"/>
          </a:xfrm>
          <a:prstGeom prst="rect">
            <a:avLst/>
          </a:prstGeom>
          <a:solidFill>
            <a:srgbClr val="2A7F8E"/>
          </a:solidFill>
          <a:ln w="12700">
            <a:solidFill>
              <a:srgbClr val="2A7F8E"/>
            </a:solidFill>
            <a:prstDash val="solid"/>
          </a:ln>
        </p:spPr>
      </p:sp>
      <p:sp>
        <p:nvSpPr>
          <p:cNvPr id="11" name="Text 8"/>
          <p:cNvSpPr txBox="1"/>
          <p:nvPr/>
        </p:nvSpPr>
        <p:spPr>
          <a:xfrm>
            <a:off x="4754880" y="3657600"/>
            <a:ext cx="3840480" cy="1005840"/>
          </a:xfrm>
          <a:prstGeom prst="rect">
            <a:avLst/>
          </a:prstGeom>
          <a:noFill/>
          <a:ln/>
        </p:spPr>
        <p:txBody>
          <a:bodyPr wrap="square" lIns="0" tIns="0" rIns="0" bIns="0" rtlCol="0" anchor="ctr"/>
          <a:lstStyle/>
          <a:p>
            <a:pPr indent="0" marL="0">
              <a:buNone/>
            </a:pPr>
            <a:r>
              <a:rPr lang="en-US" sz="1300" dirty="0">
                <a:solidFill>
                  <a:srgbClr val="222222"/>
                </a:solidFill>
                <a:latin typeface="Calibri" pitchFamily="34" charset="0"/>
                <a:ea typeface="Calibri" pitchFamily="34" charset="-122"/>
                <a:cs typeface="Calibri" pitchFamily="34" charset="-120"/>
              </a:rPr>
              <a:t>Safeguards: leave out sensitive proxies (like pin code or college), explain every recommendation, audit the results.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8229600" cy="548640"/>
          </a:xfrm>
          <a:prstGeom prst="rect">
            <a:avLst/>
          </a:prstGeom>
          <a:noFill/>
          <a:ln/>
        </p:spPr>
        <p:txBody>
          <a:bodyPr wrap="square" lIns="0" tIns="0" rIns="0" bIns="0" rtlCol="0" anchor="ctr"/>
          <a:lstStyle/>
          <a:p>
            <a:pPr indent="0" marL="0">
              <a:buNone/>
            </a:pPr>
            <a:r>
              <a:rPr lang="en-US" sz="2800" b="1" dirty="0">
                <a:solidFill>
                  <a:srgbClr val="1F3A5F"/>
                </a:solidFill>
                <a:latin typeface="Calibri" pitchFamily="34" charset="0"/>
                <a:ea typeface="Calibri" pitchFamily="34" charset="-122"/>
                <a:cs typeface="Calibri" pitchFamily="34" charset="-120"/>
              </a:rPr>
              <a:t>Fair Recruitment: Step by Step</a:t>
            </a:r>
            <a:endParaRPr lang="en-US" sz="2800" dirty="0"/>
          </a:p>
        </p:txBody>
      </p:sp>
      <p:sp>
        <p:nvSpPr>
          <p:cNvPr id="3" name="Shape 1"/>
          <p:cNvSpPr/>
          <p:nvPr/>
        </p:nvSpPr>
        <p:spPr>
          <a:xfrm>
            <a:off x="457200" y="786384"/>
            <a:ext cx="1188720" cy="64008"/>
          </a:xfrm>
          <a:prstGeom prst="rect">
            <a:avLst/>
          </a:prstGeom>
          <a:solidFill>
            <a:srgbClr val="2A7F8E"/>
          </a:solidFill>
          <a:ln w="12700">
            <a:solidFill>
              <a:srgbClr val="2A7F8E"/>
            </a:solidFill>
            <a:prstDash val="solid"/>
          </a:ln>
        </p:spPr>
      </p:sp>
      <p:sp>
        <p:nvSpPr>
          <p:cNvPr id="4" name="Text 2"/>
          <p:cNvSpPr txBox="1"/>
          <p:nvPr/>
        </p:nvSpPr>
        <p:spPr>
          <a:xfrm>
            <a:off x="8321040" y="4846320"/>
            <a:ext cx="365760" cy="228600"/>
          </a:xfrm>
          <a:prstGeom prst="rect">
            <a:avLst/>
          </a:prstGeom>
          <a:noFill/>
          <a:ln/>
        </p:spPr>
        <p:txBody>
          <a:bodyPr wrap="square" lIns="0" tIns="0" rIns="0" bIns="0" rtlCol="0" anchor="ctr"/>
          <a:lstStyle/>
          <a:p>
            <a:pPr algn="r" indent="0" marL="0">
              <a:buNone/>
            </a:pPr>
            <a:r>
              <a:rPr lang="en-US" sz="1000" dirty="0">
                <a:solidFill>
                  <a:srgbClr val="666666"/>
                </a:solidFill>
                <a:latin typeface="Calibri" pitchFamily="34" charset="0"/>
                <a:ea typeface="Calibri" pitchFamily="34" charset="-122"/>
                <a:cs typeface="Calibri" pitchFamily="34" charset="-120"/>
              </a:rPr>
              <a:t>4</a:t>
            </a:r>
            <a:endParaRPr lang="en-US" sz="1000" dirty="0"/>
          </a:p>
        </p:txBody>
      </p:sp>
      <p:sp>
        <p:nvSpPr>
          <p:cNvPr id="5" name="Text 3"/>
          <p:cNvSpPr txBox="1"/>
          <p:nvPr/>
        </p:nvSpPr>
        <p:spPr>
          <a:xfrm>
            <a:off x="457200" y="1005840"/>
            <a:ext cx="457200" cy="457200"/>
          </a:xfrm>
          <a:prstGeom prst="ellipse">
            <a:avLst/>
          </a:prstGeom>
          <a:solidFill>
            <a:srgbClr val="1F3A5F"/>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txBox="1"/>
          <p:nvPr/>
        </p:nvSpPr>
        <p:spPr>
          <a:xfrm>
            <a:off x="1051560" y="1005840"/>
            <a:ext cx="4480560" cy="502920"/>
          </a:xfrm>
          <a:prstGeom prst="rect">
            <a:avLst/>
          </a:prstGeom>
          <a:noFill/>
          <a:ln/>
        </p:spPr>
        <p:txBody>
          <a:bodyPr wrap="square" lIns="0" tIns="0" rIns="0" bIns="0" rtlCol="0" anchor="ctr"/>
          <a:lstStyle/>
          <a:p>
            <a:pPr indent="0" marL="0">
              <a:buNone/>
            </a:pPr>
            <a:r>
              <a:rPr lang="en-US" sz="1300" b="1" dirty="0">
                <a:solidFill>
                  <a:srgbClr val="1F3A5F"/>
                </a:solidFill>
                <a:latin typeface="Calibri" pitchFamily="34" charset="0"/>
                <a:ea typeface="Calibri" pitchFamily="34" charset="-122"/>
                <a:cs typeface="Calibri" pitchFamily="34" charset="-120"/>
              </a:rPr>
              <a:t>Read resumes: </a:t>
            </a:r>
            <a:pPr indent="0" marL="0">
              <a:buNone/>
            </a:pPr>
            <a:r>
              <a:rPr lang="en-US" sz="1300" dirty="0">
                <a:solidFill>
                  <a:srgbClr val="222222"/>
                </a:solidFill>
                <a:latin typeface="Calibri" pitchFamily="34" charset="0"/>
                <a:ea typeface="Calibri" pitchFamily="34" charset="-122"/>
                <a:cs typeface="Calibri" pitchFamily="34" charset="-120"/>
              </a:rPr>
              <a:t>AI reads skills, projects and qualifications from any resume format.</a:t>
            </a:r>
            <a:endParaRPr lang="en-US" sz="1300" dirty="0"/>
          </a:p>
        </p:txBody>
      </p:sp>
      <p:sp>
        <p:nvSpPr>
          <p:cNvPr id="7" name="Text 5"/>
          <p:cNvSpPr txBox="1"/>
          <p:nvPr/>
        </p:nvSpPr>
        <p:spPr>
          <a:xfrm>
            <a:off x="457200" y="1600200"/>
            <a:ext cx="457200" cy="457200"/>
          </a:xfrm>
          <a:prstGeom prst="ellipse">
            <a:avLst/>
          </a:prstGeom>
          <a:solidFill>
            <a:srgbClr val="1F3A5F"/>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8" name="Text 6"/>
          <p:cNvSpPr txBox="1"/>
          <p:nvPr/>
        </p:nvSpPr>
        <p:spPr>
          <a:xfrm>
            <a:off x="1051560" y="1600200"/>
            <a:ext cx="4480560" cy="502920"/>
          </a:xfrm>
          <a:prstGeom prst="rect">
            <a:avLst/>
          </a:prstGeom>
          <a:noFill/>
          <a:ln/>
        </p:spPr>
        <p:txBody>
          <a:bodyPr wrap="square" lIns="0" tIns="0" rIns="0" bIns="0" rtlCol="0" anchor="ctr"/>
          <a:lstStyle/>
          <a:p>
            <a:pPr indent="0" marL="0">
              <a:buNone/>
            </a:pPr>
            <a:r>
              <a:rPr lang="en-US" sz="1300" b="1" dirty="0">
                <a:solidFill>
                  <a:srgbClr val="1F3A5F"/>
                </a:solidFill>
                <a:latin typeface="Calibri" pitchFamily="34" charset="0"/>
                <a:ea typeface="Calibri" pitchFamily="34" charset="-122"/>
                <a:cs typeface="Calibri" pitchFamily="34" charset="-120"/>
              </a:rPr>
              <a:t>Match skills: </a:t>
            </a:r>
            <a:pPr indent="0" marL="0">
              <a:buNone/>
            </a:pPr>
            <a:r>
              <a:rPr lang="en-US" sz="1300" dirty="0">
                <a:solidFill>
                  <a:srgbClr val="222222"/>
                </a:solidFill>
                <a:latin typeface="Calibri" pitchFamily="34" charset="0"/>
                <a:ea typeface="Calibri" pitchFamily="34" charset="-122"/>
                <a:cs typeface="Calibri" pitchFamily="34" charset="-120"/>
              </a:rPr>
              <a:t>Compare with approved job needs. No extra marks for a famous college.</a:t>
            </a:r>
            <a:endParaRPr lang="en-US" sz="1300" dirty="0"/>
          </a:p>
        </p:txBody>
      </p:sp>
      <p:sp>
        <p:nvSpPr>
          <p:cNvPr id="9" name="Text 7"/>
          <p:cNvSpPr txBox="1"/>
          <p:nvPr/>
        </p:nvSpPr>
        <p:spPr>
          <a:xfrm>
            <a:off x="457200" y="2194560"/>
            <a:ext cx="457200" cy="457200"/>
          </a:xfrm>
          <a:prstGeom prst="ellipse">
            <a:avLst/>
          </a:prstGeom>
          <a:solidFill>
            <a:srgbClr val="1F3A5F"/>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0" name="Text 8"/>
          <p:cNvSpPr txBox="1"/>
          <p:nvPr/>
        </p:nvSpPr>
        <p:spPr>
          <a:xfrm>
            <a:off x="1051560" y="2194560"/>
            <a:ext cx="4480560" cy="502920"/>
          </a:xfrm>
          <a:prstGeom prst="rect">
            <a:avLst/>
          </a:prstGeom>
          <a:noFill/>
          <a:ln/>
        </p:spPr>
        <p:txBody>
          <a:bodyPr wrap="square" lIns="0" tIns="0" rIns="0" bIns="0" rtlCol="0" anchor="ctr"/>
          <a:lstStyle/>
          <a:p>
            <a:pPr indent="0" marL="0">
              <a:buNone/>
            </a:pPr>
            <a:r>
              <a:rPr lang="en-US" sz="1300" b="1" dirty="0">
                <a:solidFill>
                  <a:srgbClr val="1F3A5F"/>
                </a:solidFill>
                <a:latin typeface="Calibri" pitchFamily="34" charset="0"/>
                <a:ea typeface="Calibri" pitchFamily="34" charset="-122"/>
                <a:cs typeface="Calibri" pitchFamily="34" charset="-120"/>
              </a:rPr>
              <a:t>Ask structured questions: </a:t>
            </a:r>
            <a:pPr indent="0" marL="0">
              <a:buNone/>
            </a:pPr>
            <a:r>
              <a:rPr lang="en-US" sz="1300" dirty="0">
                <a:solidFill>
                  <a:srgbClr val="222222"/>
                </a:solidFill>
                <a:latin typeface="Calibri" pitchFamily="34" charset="0"/>
                <a:ea typeface="Calibri" pitchFamily="34" charset="-122"/>
                <a:cs typeface="Calibri" pitchFamily="34" charset="-120"/>
              </a:rPr>
              <a:t>Same main questions and scoring guide for everyone applying for the role.</a:t>
            </a:r>
            <a:endParaRPr lang="en-US" sz="1300" dirty="0"/>
          </a:p>
        </p:txBody>
      </p:sp>
      <p:sp>
        <p:nvSpPr>
          <p:cNvPr id="11" name="Text 9"/>
          <p:cNvSpPr txBox="1"/>
          <p:nvPr/>
        </p:nvSpPr>
        <p:spPr>
          <a:xfrm>
            <a:off x="457200" y="2788920"/>
            <a:ext cx="457200" cy="457200"/>
          </a:xfrm>
          <a:prstGeom prst="ellipse">
            <a:avLst/>
          </a:prstGeom>
          <a:solidFill>
            <a:srgbClr val="1F3A5F"/>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2" name="Text 10"/>
          <p:cNvSpPr txBox="1"/>
          <p:nvPr/>
        </p:nvSpPr>
        <p:spPr>
          <a:xfrm>
            <a:off x="1051560" y="2788920"/>
            <a:ext cx="4480560" cy="502920"/>
          </a:xfrm>
          <a:prstGeom prst="rect">
            <a:avLst/>
          </a:prstGeom>
          <a:noFill/>
          <a:ln/>
        </p:spPr>
        <p:txBody>
          <a:bodyPr wrap="square" lIns="0" tIns="0" rIns="0" bIns="0" rtlCol="0" anchor="ctr"/>
          <a:lstStyle/>
          <a:p>
            <a:pPr indent="0" marL="0">
              <a:buNone/>
            </a:pPr>
            <a:r>
              <a:rPr lang="en-US" sz="1300" b="1" dirty="0">
                <a:solidFill>
                  <a:srgbClr val="1F3A5F"/>
                </a:solidFill>
                <a:latin typeface="Calibri" pitchFamily="34" charset="0"/>
                <a:ea typeface="Calibri" pitchFamily="34" charset="-122"/>
                <a:cs typeface="Calibri" pitchFamily="34" charset="-120"/>
              </a:rPr>
              <a:t>Human review: </a:t>
            </a:r>
            <a:pPr indent="0" marL="0">
              <a:buNone/>
            </a:pPr>
            <a:r>
              <a:rPr lang="en-US" sz="1300" dirty="0">
                <a:solidFill>
                  <a:srgbClr val="222222"/>
                </a:solidFill>
                <a:latin typeface="Calibri" pitchFamily="34" charset="0"/>
                <a:ea typeface="Calibri" pitchFamily="34" charset="-122"/>
                <a:cs typeface="Calibri" pitchFamily="34" charset="-120"/>
              </a:rPr>
              <a:t>Recruiters check the shortlist and look for suitable people the AI missed.</a:t>
            </a:r>
            <a:endParaRPr lang="en-US" sz="1300" dirty="0"/>
          </a:p>
        </p:txBody>
      </p:sp>
      <p:sp>
        <p:nvSpPr>
          <p:cNvPr id="13" name="Text 11"/>
          <p:cNvSpPr txBox="1"/>
          <p:nvPr/>
        </p:nvSpPr>
        <p:spPr>
          <a:xfrm>
            <a:off x="457200" y="3383280"/>
            <a:ext cx="457200" cy="457200"/>
          </a:xfrm>
          <a:prstGeom prst="ellipse">
            <a:avLst/>
          </a:prstGeom>
          <a:solidFill>
            <a:srgbClr val="1F3A5F"/>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14" name="Text 12"/>
          <p:cNvSpPr txBox="1"/>
          <p:nvPr/>
        </p:nvSpPr>
        <p:spPr>
          <a:xfrm>
            <a:off x="1051560" y="3383280"/>
            <a:ext cx="4480560" cy="502920"/>
          </a:xfrm>
          <a:prstGeom prst="rect">
            <a:avLst/>
          </a:prstGeom>
          <a:noFill/>
          <a:ln/>
        </p:spPr>
        <p:txBody>
          <a:bodyPr wrap="square" lIns="0" tIns="0" rIns="0" bIns="0" rtlCol="0" anchor="ctr"/>
          <a:lstStyle/>
          <a:p>
            <a:pPr indent="0" marL="0">
              <a:buNone/>
            </a:pPr>
            <a:r>
              <a:rPr lang="en-US" sz="1300" b="1" dirty="0">
                <a:solidFill>
                  <a:srgbClr val="1F3A5F"/>
                </a:solidFill>
                <a:latin typeface="Calibri" pitchFamily="34" charset="0"/>
                <a:ea typeface="Calibri" pitchFamily="34" charset="-122"/>
                <a:cs typeface="Calibri" pitchFamily="34" charset="-120"/>
              </a:rPr>
              <a:t>Check the results: </a:t>
            </a:r>
            <a:pPr indent="0" marL="0">
              <a:buNone/>
            </a:pPr>
            <a:r>
              <a:rPr lang="en-US" sz="1300" dirty="0">
                <a:solidFill>
                  <a:srgbClr val="222222"/>
                </a:solidFill>
                <a:latin typeface="Calibri" pitchFamily="34" charset="0"/>
                <a:ea typeface="Calibri" pitchFamily="34" charset="-122"/>
                <a:cs typeface="Calibri" pitchFamily="34" charset="-120"/>
              </a:rPr>
              <a:t>HR checks if some groups of candidates are rejected more often.</a:t>
            </a:r>
            <a:endParaRPr lang="en-US" sz="1300" dirty="0"/>
          </a:p>
        </p:txBody>
      </p:sp>
      <p:sp>
        <p:nvSpPr>
          <p:cNvPr id="15" name="Shape 13"/>
          <p:cNvSpPr/>
          <p:nvPr/>
        </p:nvSpPr>
        <p:spPr>
          <a:xfrm>
            <a:off x="5760720" y="1005840"/>
            <a:ext cx="2926080" cy="2880360"/>
          </a:xfrm>
          <a:prstGeom prst="rect">
            <a:avLst/>
          </a:prstGeom>
          <a:solidFill>
            <a:srgbClr val="EEF2F7"/>
          </a:solidFill>
          <a:ln w="12700">
            <a:solidFill>
              <a:srgbClr val="EEF2F7"/>
            </a:solidFill>
            <a:prstDash val="solid"/>
          </a:ln>
        </p:spPr>
      </p:sp>
      <p:sp>
        <p:nvSpPr>
          <p:cNvPr id="16" name="Text 14"/>
          <p:cNvSpPr txBox="1"/>
          <p:nvPr/>
        </p:nvSpPr>
        <p:spPr>
          <a:xfrm>
            <a:off x="5897880" y="1078992"/>
            <a:ext cx="2651760" cy="320040"/>
          </a:xfrm>
          <a:prstGeom prst="rect">
            <a:avLst/>
          </a:prstGeom>
          <a:noFill/>
          <a:ln/>
        </p:spPr>
        <p:txBody>
          <a:bodyPr wrap="square" lIns="0" tIns="0" rIns="0" bIns="0" rtlCol="0" anchor="ctr"/>
          <a:lstStyle/>
          <a:p>
            <a:pPr indent="0" marL="0">
              <a:buNone/>
            </a:pPr>
            <a:r>
              <a:rPr lang="en-US" sz="1500" b="1" dirty="0">
                <a:solidFill>
                  <a:srgbClr val="1F3A5F"/>
                </a:solidFill>
                <a:latin typeface="Calibri" pitchFamily="34" charset="0"/>
                <a:ea typeface="Calibri" pitchFamily="34" charset="-122"/>
                <a:cs typeface="Calibri" pitchFamily="34" charset="-120"/>
              </a:rPr>
              <a:t>How we measure success</a:t>
            </a:r>
            <a:endParaRPr lang="en-US" sz="1500" dirty="0"/>
          </a:p>
        </p:txBody>
      </p:sp>
      <p:sp>
        <p:nvSpPr>
          <p:cNvPr id="17" name="Text 15"/>
          <p:cNvSpPr txBox="1"/>
          <p:nvPr/>
        </p:nvSpPr>
        <p:spPr>
          <a:xfrm>
            <a:off x="5897880" y="1463040"/>
            <a:ext cx="2697480" cy="233172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222222"/>
                </a:solidFill>
                <a:latin typeface="Calibri" pitchFamily="34" charset="0"/>
                <a:ea typeface="Calibri" pitchFamily="34" charset="-122"/>
                <a:cs typeface="Calibri" pitchFamily="34" charset="-120"/>
              </a:rPr>
              <a:t>Time to shortlist and fill a vacancy</a:t>
            </a:r>
            <a:endParaRPr lang="en-US" sz="1300" dirty="0"/>
          </a:p>
          <a:p>
            <a:pPr marL="342900" indent="-342900">
              <a:spcAft>
                <a:spcPts val="800"/>
              </a:spcAft>
              <a:buSzPct val="100000"/>
              <a:buChar char="•"/>
            </a:pPr>
            <a:r>
              <a:rPr lang="en-US" sz="1300" dirty="0">
                <a:solidFill>
                  <a:srgbClr val="222222"/>
                </a:solidFill>
                <a:latin typeface="Calibri" pitchFamily="34" charset="0"/>
                <a:ea typeface="Calibri" pitchFamily="34" charset="-122"/>
                <a:cs typeface="Calibri" pitchFamily="34" charset="-120"/>
              </a:rPr>
              <a:t>New hires meet the role needs</a:t>
            </a:r>
            <a:endParaRPr lang="en-US" sz="1300" dirty="0"/>
          </a:p>
          <a:p>
            <a:pPr marL="342900" indent="-342900">
              <a:spcAft>
                <a:spcPts val="800"/>
              </a:spcAft>
              <a:buSzPct val="100000"/>
              <a:buChar char="•"/>
            </a:pPr>
            <a:r>
              <a:rPr lang="en-US" sz="1300" dirty="0">
                <a:solidFill>
                  <a:srgbClr val="222222"/>
                </a:solidFill>
                <a:latin typeface="Calibri" pitchFamily="34" charset="0"/>
                <a:ea typeface="Calibri" pitchFamily="34" charset="-122"/>
                <a:cs typeface="Calibri" pitchFamily="34" charset="-120"/>
              </a:rPr>
              <a:t>Candidate feedback and drop-offs</a:t>
            </a:r>
            <a:endParaRPr lang="en-US" sz="1300" dirty="0"/>
          </a:p>
          <a:p>
            <a:pPr marL="342900" indent="-342900">
              <a:spcAft>
                <a:spcPts val="800"/>
              </a:spcAft>
              <a:buSzPct val="100000"/>
              <a:buChar char="•"/>
            </a:pPr>
            <a:r>
              <a:rPr lang="en-US" sz="1300" dirty="0">
                <a:solidFill>
                  <a:srgbClr val="222222"/>
                </a:solidFill>
                <a:latin typeface="Calibri" pitchFamily="34" charset="0"/>
                <a:ea typeface="Calibri" pitchFamily="34" charset="-122"/>
                <a:cs typeface="Calibri" pitchFamily="34" charset="-120"/>
              </a:rPr>
              <a:t>No unexplained gaps between candidate groups</a:t>
            </a:r>
            <a:endParaRPr lang="en-US" sz="1300" dirty="0"/>
          </a:p>
        </p:txBody>
      </p:sp>
      <p:sp>
        <p:nvSpPr>
          <p:cNvPr id="18" name="Shape 16"/>
          <p:cNvSpPr/>
          <p:nvPr/>
        </p:nvSpPr>
        <p:spPr>
          <a:xfrm>
            <a:off x="457200" y="4069080"/>
            <a:ext cx="8229600" cy="594360"/>
          </a:xfrm>
          <a:prstGeom prst="rect">
            <a:avLst/>
          </a:prstGeom>
          <a:solidFill>
            <a:srgbClr val="EEF2F7"/>
          </a:solidFill>
          <a:ln w="12700">
            <a:solidFill>
              <a:srgbClr val="EEF2F7"/>
            </a:solidFill>
            <a:prstDash val="solid"/>
          </a:ln>
        </p:spPr>
      </p:sp>
      <p:sp>
        <p:nvSpPr>
          <p:cNvPr id="19" name="Shape 17"/>
          <p:cNvSpPr/>
          <p:nvPr/>
        </p:nvSpPr>
        <p:spPr>
          <a:xfrm>
            <a:off x="457200" y="4069080"/>
            <a:ext cx="73152" cy="594360"/>
          </a:xfrm>
          <a:prstGeom prst="rect">
            <a:avLst/>
          </a:prstGeom>
          <a:solidFill>
            <a:srgbClr val="2A7F8E"/>
          </a:solidFill>
          <a:ln w="12700">
            <a:solidFill>
              <a:srgbClr val="2A7F8E"/>
            </a:solidFill>
            <a:prstDash val="solid"/>
          </a:ln>
        </p:spPr>
      </p:sp>
      <p:sp>
        <p:nvSpPr>
          <p:cNvPr id="20" name="Text 18"/>
          <p:cNvSpPr txBox="1"/>
          <p:nvPr/>
        </p:nvSpPr>
        <p:spPr>
          <a:xfrm>
            <a:off x="640080" y="4069080"/>
            <a:ext cx="7955280" cy="594360"/>
          </a:xfrm>
          <a:prstGeom prst="rect">
            <a:avLst/>
          </a:prstGeom>
          <a:noFill/>
          <a:ln/>
        </p:spPr>
        <p:txBody>
          <a:bodyPr wrap="square" lIns="0" tIns="0" rIns="0" bIns="0" rtlCol="0" anchor="ctr"/>
          <a:lstStyle/>
          <a:p>
            <a:pPr indent="0" marL="0">
              <a:buNone/>
            </a:pPr>
            <a:r>
              <a:rPr lang="en-US" sz="1400" b="1" dirty="0">
                <a:solidFill>
                  <a:srgbClr val="222222"/>
                </a:solidFill>
                <a:latin typeface="Calibri" pitchFamily="34" charset="0"/>
                <a:ea typeface="Calibri" pitchFamily="34" charset="-122"/>
                <a:cs typeface="Calibri" pitchFamily="34" charset="-120"/>
              </a:rPr>
              <a:t>Test on a few roles first and compare with today's process. The aim is to find suitable people more consistently, not to reject faster.</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8229600" cy="548640"/>
          </a:xfrm>
          <a:prstGeom prst="rect">
            <a:avLst/>
          </a:prstGeom>
          <a:noFill/>
          <a:ln/>
        </p:spPr>
        <p:txBody>
          <a:bodyPr wrap="square" lIns="0" tIns="0" rIns="0" bIns="0" rtlCol="0" anchor="ctr"/>
          <a:lstStyle/>
          <a:p>
            <a:pPr indent="0" marL="0">
              <a:buNone/>
            </a:pPr>
            <a:r>
              <a:rPr lang="en-US" sz="2800" b="1" dirty="0">
                <a:solidFill>
                  <a:srgbClr val="1F3A5F"/>
                </a:solidFill>
                <a:latin typeface="Calibri" pitchFamily="34" charset="0"/>
                <a:ea typeface="Calibri" pitchFamily="34" charset="-122"/>
                <a:cs typeface="Calibri" pitchFamily="34" charset="-120"/>
              </a:rPr>
              <a:t>Attrition Support and Personal Growth</a:t>
            </a:r>
            <a:endParaRPr lang="en-US" sz="2800" dirty="0"/>
          </a:p>
        </p:txBody>
      </p:sp>
      <p:sp>
        <p:nvSpPr>
          <p:cNvPr id="3" name="Shape 1"/>
          <p:cNvSpPr/>
          <p:nvPr/>
        </p:nvSpPr>
        <p:spPr>
          <a:xfrm>
            <a:off x="457200" y="786384"/>
            <a:ext cx="1188720" cy="64008"/>
          </a:xfrm>
          <a:prstGeom prst="rect">
            <a:avLst/>
          </a:prstGeom>
          <a:solidFill>
            <a:srgbClr val="2A7F8E"/>
          </a:solidFill>
          <a:ln w="12700">
            <a:solidFill>
              <a:srgbClr val="2A7F8E"/>
            </a:solidFill>
            <a:prstDash val="solid"/>
          </a:ln>
        </p:spPr>
      </p:sp>
      <p:sp>
        <p:nvSpPr>
          <p:cNvPr id="4" name="Text 2"/>
          <p:cNvSpPr txBox="1"/>
          <p:nvPr/>
        </p:nvSpPr>
        <p:spPr>
          <a:xfrm>
            <a:off x="8321040" y="4846320"/>
            <a:ext cx="365760" cy="228600"/>
          </a:xfrm>
          <a:prstGeom prst="rect">
            <a:avLst/>
          </a:prstGeom>
          <a:noFill/>
          <a:ln/>
        </p:spPr>
        <p:txBody>
          <a:bodyPr wrap="square" lIns="0" tIns="0" rIns="0" bIns="0" rtlCol="0" anchor="ctr"/>
          <a:lstStyle/>
          <a:p>
            <a:pPr algn="r" indent="0" marL="0">
              <a:buNone/>
            </a:pPr>
            <a:r>
              <a:rPr lang="en-US" sz="1000" dirty="0">
                <a:solidFill>
                  <a:srgbClr val="666666"/>
                </a:solidFill>
                <a:latin typeface="Calibri" pitchFamily="34" charset="0"/>
                <a:ea typeface="Calibri" pitchFamily="34" charset="-122"/>
                <a:cs typeface="Calibri" pitchFamily="34" charset="-120"/>
              </a:rPr>
              <a:t>5</a:t>
            </a:r>
            <a:endParaRPr lang="en-US" sz="1000" dirty="0"/>
          </a:p>
        </p:txBody>
      </p:sp>
      <p:sp>
        <p:nvSpPr>
          <p:cNvPr id="5" name="Text 3"/>
          <p:cNvSpPr txBox="1"/>
          <p:nvPr/>
        </p:nvSpPr>
        <p:spPr>
          <a:xfrm>
            <a:off x="457200" y="914400"/>
            <a:ext cx="4206240" cy="320040"/>
          </a:xfrm>
          <a:prstGeom prst="rect">
            <a:avLst/>
          </a:prstGeom>
          <a:noFill/>
          <a:ln/>
        </p:spPr>
        <p:txBody>
          <a:bodyPr wrap="square" lIns="0" tIns="0" rIns="0" bIns="0" rtlCol="0" anchor="ctr"/>
          <a:lstStyle/>
          <a:p>
            <a:pPr indent="0" marL="0">
              <a:buNone/>
            </a:pPr>
            <a:r>
              <a:rPr lang="en-US" sz="1600" b="1" dirty="0">
                <a:solidFill>
                  <a:srgbClr val="1F3A5F"/>
                </a:solidFill>
                <a:latin typeface="Calibri" pitchFamily="34" charset="0"/>
                <a:ea typeface="Calibri" pitchFamily="34" charset="-122"/>
                <a:cs typeface="Calibri" pitchFamily="34" charset="-120"/>
              </a:rPr>
              <a:t>From warning to support</a:t>
            </a:r>
            <a:endParaRPr lang="en-US" sz="16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4206240" cy="914400"/>
        </p:xfrm>
        <a:graphic>
          <a:graphicData uri="http://schemas.openxmlformats.org/drawingml/2006/table">
            <a:tbl>
              <a:tblPr/>
              <a:tblGrid>
                <a:gridCol w="2011680"/>
                <a:gridCol w="2194560"/>
              </a:tblGrid>
              <a:tr h="310896">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What we notice</a:t>
                      </a:r>
                      <a:endParaRPr lang="en-US" sz="1400" dirty="0">
                        <a:latin typeface="Calibri" charset="0"/>
                        <a:ea typeface="Calibri" charset="0"/>
                        <a:cs typeface="Calibri" charset="0"/>
                      </a:endParaRPr>
                    </a:p>
                  </a:txBody>
                  <a:tcPr marL="73152" marR="73152" marT="45720" marB="45720" anchor="ctr">
                    <a:lnL w="12700" cap="flat" cmpd="sng" algn="ctr">
                      <a:solidFill>
                        <a:srgbClr val="A0A0A0"/>
                      </a:solidFill>
                      <a:prstDash val="solid"/>
                      <a:round/>
                      <a:headEnd type="none" w="med" len="med"/>
                      <a:tailEnd type="none" w="med" len="med"/>
                    </a:lnL>
                    <a:lnR w="12700" cap="flat" cmpd="sng" algn="ctr">
                      <a:solidFill>
                        <a:srgbClr val="A0A0A0"/>
                      </a:solidFill>
                      <a:prstDash val="solid"/>
                      <a:round/>
                      <a:headEnd type="none" w="med" len="med"/>
                      <a:tailEnd type="none" w="med" len="med"/>
                    </a:lnR>
                    <a:lnT w="12700" cap="flat" cmpd="sng" algn="ctr">
                      <a:solidFill>
                        <a:srgbClr val="A0A0A0"/>
                      </a:solidFill>
                      <a:prstDash val="solid"/>
                      <a:round/>
                      <a:headEnd type="none" w="med" len="med"/>
                      <a:tailEnd type="none" w="med" len="med"/>
                    </a:lnT>
                    <a:lnB w="12700" cap="flat" cmpd="sng" algn="ctr">
                      <a:solidFill>
                        <a:srgbClr val="A0A0A0"/>
                      </a:solidFill>
                      <a:prstDash val="solid"/>
                      <a:round/>
                      <a:headEnd type="none" w="med" len="med"/>
                      <a:tailEnd type="none" w="med" len="med"/>
                    </a:lnB>
                    <a:solidFill>
                      <a:srgbClr val="1F3A5F"/>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Support we offer</a:t>
                      </a:r>
                      <a:endParaRPr lang="en-US" sz="1400" dirty="0">
                        <a:latin typeface="Calibri" charset="0"/>
                        <a:ea typeface="Calibri" charset="0"/>
                        <a:cs typeface="Calibri" charset="0"/>
                      </a:endParaRPr>
                    </a:p>
                  </a:txBody>
                  <a:tcPr marL="73152" marR="73152" marT="45720" marB="45720" anchor="ctr">
                    <a:lnL w="12700" cap="flat" cmpd="sng" algn="ctr">
                      <a:solidFill>
                        <a:srgbClr val="A0A0A0"/>
                      </a:solidFill>
                      <a:prstDash val="solid"/>
                      <a:round/>
                      <a:headEnd type="none" w="med" len="med"/>
                      <a:tailEnd type="none" w="med" len="med"/>
                    </a:lnL>
                    <a:lnR w="12700" cap="flat" cmpd="sng" algn="ctr">
                      <a:solidFill>
                        <a:srgbClr val="A0A0A0"/>
                      </a:solidFill>
                      <a:prstDash val="solid"/>
                      <a:round/>
                      <a:headEnd type="none" w="med" len="med"/>
                      <a:tailEnd type="none" w="med" len="med"/>
                    </a:lnR>
                    <a:lnT w="12700" cap="flat" cmpd="sng" algn="ctr">
                      <a:solidFill>
                        <a:srgbClr val="A0A0A0"/>
                      </a:solidFill>
                      <a:prstDash val="solid"/>
                      <a:round/>
                      <a:headEnd type="none" w="med" len="med"/>
                      <a:tailEnd type="none" w="med" len="med"/>
                    </a:lnT>
                    <a:lnB w="12700" cap="flat" cmpd="sng" algn="ctr">
                      <a:solidFill>
                        <a:srgbClr val="A0A0A0"/>
                      </a:solidFill>
                      <a:prstDash val="solid"/>
                      <a:round/>
                      <a:headEnd type="none" w="med" len="med"/>
                      <a:tailEnd type="none" w="med" len="med"/>
                    </a:lnB>
                    <a:solidFill>
                      <a:srgbClr val="1F3A5F"/>
                    </a:solidFill>
                  </a:tcPr>
                </a:tc>
              </a:tr>
              <a:tr h="548640">
                <a:tc>
                  <a:txBody>
                    <a:bodyPr/>
                    <a:lstStyle/>
                    <a:p>
                      <a:pPr indent="0" marL="0">
                        <a:buNone/>
                      </a:pPr>
                      <a:r>
                        <a:rPr lang="en-US" sz="1200" dirty="0">
                          <a:solidFill>
                            <a:srgbClr val="222222"/>
                          </a:solidFill>
                          <a:latin typeface="Calibri" pitchFamily="34" charset="0"/>
                          <a:ea typeface="Calibri" pitchFamily="34" charset="-122"/>
                          <a:cs typeface="Calibri" pitchFamily="34" charset="-120"/>
                        </a:rPr>
                        <a:t>Workload stays high</a:t>
                      </a:r>
                      <a:endParaRPr lang="en-US" sz="1200" dirty="0">
                        <a:latin typeface="Calibri" charset="0"/>
                        <a:ea typeface="Calibri" charset="0"/>
                        <a:cs typeface="Calibri" charset="0"/>
                      </a:endParaRPr>
                    </a:p>
                  </a:txBody>
                  <a:tcPr marL="73152" marR="73152" marT="45720" marB="45720" anchor="t">
                    <a:lnL w="12700" cap="flat" cmpd="sng" algn="ctr">
                      <a:solidFill>
                        <a:srgbClr val="A0A0A0"/>
                      </a:solidFill>
                      <a:prstDash val="solid"/>
                      <a:round/>
                      <a:headEnd type="none" w="med" len="med"/>
                      <a:tailEnd type="none" w="med" len="med"/>
                    </a:lnL>
                    <a:lnR w="12700" cap="flat" cmpd="sng" algn="ctr">
                      <a:solidFill>
                        <a:srgbClr val="A0A0A0"/>
                      </a:solidFill>
                      <a:prstDash val="solid"/>
                      <a:round/>
                      <a:headEnd type="none" w="med" len="med"/>
                      <a:tailEnd type="none" w="med" len="med"/>
                    </a:lnR>
                    <a:lnT w="12700" cap="flat" cmpd="sng" algn="ctr">
                      <a:solidFill>
                        <a:srgbClr val="A0A0A0"/>
                      </a:solidFill>
                      <a:prstDash val="solid"/>
                      <a:round/>
                      <a:headEnd type="none" w="med" len="med"/>
                      <a:tailEnd type="none" w="med" len="med"/>
                    </a:lnT>
                    <a:lnB w="12700" cap="flat" cmpd="sng" algn="ctr">
                      <a:solidFill>
                        <a:srgbClr val="A0A0A0"/>
                      </a:solidFill>
                      <a:prstDash val="solid"/>
                      <a:round/>
                      <a:headEnd type="none" w="med" len="med"/>
                      <a:tailEnd type="none" w="med" len="med"/>
                    </a:lnB>
                    <a:solidFill>
                      <a:srgbClr val="EEF2F7"/>
                    </a:solidFill>
                  </a:tcPr>
                </a:tc>
                <a:tc>
                  <a:txBody>
                    <a:bodyPr/>
                    <a:lstStyle/>
                    <a:p>
                      <a:pPr indent="0" marL="0">
                        <a:buNone/>
                      </a:pPr>
                      <a:r>
                        <a:rPr lang="en-US" sz="1200" dirty="0">
                          <a:solidFill>
                            <a:srgbClr val="222222"/>
                          </a:solidFill>
                          <a:latin typeface="Calibri" pitchFamily="34" charset="0"/>
                          <a:ea typeface="Calibri" pitchFamily="34" charset="-122"/>
                          <a:cs typeface="Calibri" pitchFamily="34" charset="-120"/>
                        </a:rPr>
                        <a:t>Review deadlines, workload and staffing</a:t>
                      </a:r>
                      <a:endParaRPr lang="en-US" sz="1200" dirty="0">
                        <a:latin typeface="Calibri" charset="0"/>
                        <a:ea typeface="Calibri" charset="0"/>
                        <a:cs typeface="Calibri" charset="0"/>
                      </a:endParaRPr>
                    </a:p>
                  </a:txBody>
                  <a:tcPr marL="73152" marR="73152" marT="45720" marB="45720" anchor="t">
                    <a:lnL w="12700" cap="flat" cmpd="sng" algn="ctr">
                      <a:solidFill>
                        <a:srgbClr val="A0A0A0"/>
                      </a:solidFill>
                      <a:prstDash val="solid"/>
                      <a:round/>
                      <a:headEnd type="none" w="med" len="med"/>
                      <a:tailEnd type="none" w="med" len="med"/>
                    </a:lnL>
                    <a:lnR w="12700" cap="flat" cmpd="sng" algn="ctr">
                      <a:solidFill>
                        <a:srgbClr val="A0A0A0"/>
                      </a:solidFill>
                      <a:prstDash val="solid"/>
                      <a:round/>
                      <a:headEnd type="none" w="med" len="med"/>
                      <a:tailEnd type="none" w="med" len="med"/>
                    </a:lnR>
                    <a:lnT w="12700" cap="flat" cmpd="sng" algn="ctr">
                      <a:solidFill>
                        <a:srgbClr val="A0A0A0"/>
                      </a:solidFill>
                      <a:prstDash val="solid"/>
                      <a:round/>
                      <a:headEnd type="none" w="med" len="med"/>
                      <a:tailEnd type="none" w="med" len="med"/>
                    </a:lnT>
                    <a:lnB w="12700" cap="flat" cmpd="sng" algn="ctr">
                      <a:solidFill>
                        <a:srgbClr val="A0A0A0"/>
                      </a:solidFill>
                      <a:prstDash val="solid"/>
                      <a:round/>
                      <a:headEnd type="none" w="med" len="med"/>
                      <a:tailEnd type="none" w="med" len="med"/>
                    </a:lnB>
                  </a:tcPr>
                </a:tc>
              </a:tr>
              <a:tr h="548640">
                <a:tc>
                  <a:txBody>
                    <a:bodyPr/>
                    <a:lstStyle/>
                    <a:p>
                      <a:pPr indent="0" marL="0">
                        <a:buNone/>
                      </a:pPr>
                      <a:r>
                        <a:rPr lang="en-US" sz="1200" dirty="0">
                          <a:solidFill>
                            <a:srgbClr val="222222"/>
                          </a:solidFill>
                          <a:latin typeface="Calibri" pitchFamily="34" charset="0"/>
                          <a:ea typeface="Calibri" pitchFamily="34" charset="-122"/>
                          <a:cs typeface="Calibri" pitchFamily="34" charset="-120"/>
                        </a:rPr>
                        <a:t>Long time in the same role</a:t>
                      </a:r>
                      <a:endParaRPr lang="en-US" sz="1200" dirty="0">
                        <a:latin typeface="Calibri" charset="0"/>
                        <a:ea typeface="Calibri" charset="0"/>
                        <a:cs typeface="Calibri" charset="0"/>
                      </a:endParaRPr>
                    </a:p>
                  </a:txBody>
                  <a:tcPr marL="73152" marR="73152" marT="45720" marB="45720" anchor="t">
                    <a:lnL w="12700" cap="flat" cmpd="sng" algn="ctr">
                      <a:solidFill>
                        <a:srgbClr val="A0A0A0"/>
                      </a:solidFill>
                      <a:prstDash val="solid"/>
                      <a:round/>
                      <a:headEnd type="none" w="med" len="med"/>
                      <a:tailEnd type="none" w="med" len="med"/>
                    </a:lnL>
                    <a:lnR w="12700" cap="flat" cmpd="sng" algn="ctr">
                      <a:solidFill>
                        <a:srgbClr val="A0A0A0"/>
                      </a:solidFill>
                      <a:prstDash val="solid"/>
                      <a:round/>
                      <a:headEnd type="none" w="med" len="med"/>
                      <a:tailEnd type="none" w="med" len="med"/>
                    </a:lnR>
                    <a:lnT w="12700" cap="flat" cmpd="sng" algn="ctr">
                      <a:solidFill>
                        <a:srgbClr val="A0A0A0"/>
                      </a:solidFill>
                      <a:prstDash val="solid"/>
                      <a:round/>
                      <a:headEnd type="none" w="med" len="med"/>
                      <a:tailEnd type="none" w="med" len="med"/>
                    </a:lnT>
                    <a:lnB w="12700" cap="flat" cmpd="sng" algn="ctr">
                      <a:solidFill>
                        <a:srgbClr val="A0A0A0"/>
                      </a:solidFill>
                      <a:prstDash val="solid"/>
                      <a:round/>
                      <a:headEnd type="none" w="med" len="med"/>
                      <a:tailEnd type="none" w="med" len="med"/>
                    </a:lnB>
                    <a:solidFill>
                      <a:srgbClr val="EEF2F7"/>
                    </a:solidFill>
                  </a:tcPr>
                </a:tc>
                <a:tc>
                  <a:txBody>
                    <a:bodyPr/>
                    <a:lstStyle/>
                    <a:p>
                      <a:pPr indent="0" marL="0">
                        <a:buNone/>
                      </a:pPr>
                      <a:r>
                        <a:rPr lang="en-US" sz="1200" dirty="0">
                          <a:solidFill>
                            <a:srgbClr val="222222"/>
                          </a:solidFill>
                          <a:latin typeface="Calibri" pitchFamily="34" charset="0"/>
                          <a:ea typeface="Calibri" pitchFamily="34" charset="-122"/>
                          <a:cs typeface="Calibri" pitchFamily="34" charset="-120"/>
                        </a:rPr>
                        <a:t>New project, role rotation or promotion talk</a:t>
                      </a:r>
                      <a:endParaRPr lang="en-US" sz="1200" dirty="0">
                        <a:latin typeface="Calibri" charset="0"/>
                        <a:ea typeface="Calibri" charset="0"/>
                        <a:cs typeface="Calibri" charset="0"/>
                      </a:endParaRPr>
                    </a:p>
                  </a:txBody>
                  <a:tcPr marL="73152" marR="73152" marT="45720" marB="45720" anchor="t">
                    <a:lnL w="12700" cap="flat" cmpd="sng" algn="ctr">
                      <a:solidFill>
                        <a:srgbClr val="A0A0A0"/>
                      </a:solidFill>
                      <a:prstDash val="solid"/>
                      <a:round/>
                      <a:headEnd type="none" w="med" len="med"/>
                      <a:tailEnd type="none" w="med" len="med"/>
                    </a:lnL>
                    <a:lnR w="12700" cap="flat" cmpd="sng" algn="ctr">
                      <a:solidFill>
                        <a:srgbClr val="A0A0A0"/>
                      </a:solidFill>
                      <a:prstDash val="solid"/>
                      <a:round/>
                      <a:headEnd type="none" w="med" len="med"/>
                      <a:tailEnd type="none" w="med" len="med"/>
                    </a:lnR>
                    <a:lnT w="12700" cap="flat" cmpd="sng" algn="ctr">
                      <a:solidFill>
                        <a:srgbClr val="A0A0A0"/>
                      </a:solidFill>
                      <a:prstDash val="solid"/>
                      <a:round/>
                      <a:headEnd type="none" w="med" len="med"/>
                      <a:tailEnd type="none" w="med" len="med"/>
                    </a:lnT>
                    <a:lnB w="12700" cap="flat" cmpd="sng" algn="ctr">
                      <a:solidFill>
                        <a:srgbClr val="A0A0A0"/>
                      </a:solidFill>
                      <a:prstDash val="solid"/>
                      <a:round/>
                      <a:headEnd type="none" w="med" len="med"/>
                      <a:tailEnd type="none" w="med" len="med"/>
                    </a:lnB>
                  </a:tcPr>
                </a:tc>
              </a:tr>
              <a:tr h="548640">
                <a:tc>
                  <a:txBody>
                    <a:bodyPr/>
                    <a:lstStyle/>
                    <a:p>
                      <a:pPr indent="0" marL="0">
                        <a:buNone/>
                      </a:pPr>
                      <a:r>
                        <a:rPr lang="en-US" sz="1200" dirty="0">
                          <a:solidFill>
                            <a:srgbClr val="222222"/>
                          </a:solidFill>
                          <a:latin typeface="Calibri" pitchFamily="34" charset="0"/>
                          <a:ea typeface="Calibri" pitchFamily="34" charset="-122"/>
                          <a:cs typeface="Calibri" pitchFamily="34" charset="-120"/>
                        </a:rPr>
                        <a:t>Skills do not match future projects</a:t>
                      </a:r>
                      <a:endParaRPr lang="en-US" sz="1200" dirty="0">
                        <a:latin typeface="Calibri" charset="0"/>
                        <a:ea typeface="Calibri" charset="0"/>
                        <a:cs typeface="Calibri" charset="0"/>
                      </a:endParaRPr>
                    </a:p>
                  </a:txBody>
                  <a:tcPr marL="73152" marR="73152" marT="45720" marB="45720" anchor="t">
                    <a:lnL w="12700" cap="flat" cmpd="sng" algn="ctr">
                      <a:solidFill>
                        <a:srgbClr val="A0A0A0"/>
                      </a:solidFill>
                      <a:prstDash val="solid"/>
                      <a:round/>
                      <a:headEnd type="none" w="med" len="med"/>
                      <a:tailEnd type="none" w="med" len="med"/>
                    </a:lnL>
                    <a:lnR w="12700" cap="flat" cmpd="sng" algn="ctr">
                      <a:solidFill>
                        <a:srgbClr val="A0A0A0"/>
                      </a:solidFill>
                      <a:prstDash val="solid"/>
                      <a:round/>
                      <a:headEnd type="none" w="med" len="med"/>
                      <a:tailEnd type="none" w="med" len="med"/>
                    </a:lnR>
                    <a:lnT w="12700" cap="flat" cmpd="sng" algn="ctr">
                      <a:solidFill>
                        <a:srgbClr val="A0A0A0"/>
                      </a:solidFill>
                      <a:prstDash val="solid"/>
                      <a:round/>
                      <a:headEnd type="none" w="med" len="med"/>
                      <a:tailEnd type="none" w="med" len="med"/>
                    </a:lnT>
                    <a:lnB w="12700" cap="flat" cmpd="sng" algn="ctr">
                      <a:solidFill>
                        <a:srgbClr val="A0A0A0"/>
                      </a:solidFill>
                      <a:prstDash val="solid"/>
                      <a:round/>
                      <a:headEnd type="none" w="med" len="med"/>
                      <a:tailEnd type="none" w="med" len="med"/>
                    </a:lnB>
                    <a:solidFill>
                      <a:srgbClr val="EEF2F7"/>
                    </a:solidFill>
                  </a:tcPr>
                </a:tc>
                <a:tc>
                  <a:txBody>
                    <a:bodyPr/>
                    <a:lstStyle/>
                    <a:p>
                      <a:pPr indent="0" marL="0">
                        <a:buNone/>
                      </a:pPr>
                      <a:r>
                        <a:rPr lang="en-US" sz="1200" dirty="0">
                          <a:solidFill>
                            <a:srgbClr val="222222"/>
                          </a:solidFill>
                          <a:latin typeface="Calibri" pitchFamily="34" charset="0"/>
                          <a:ea typeface="Calibri" pitchFamily="34" charset="-122"/>
                          <a:cs typeface="Calibri" pitchFamily="34" charset="-120"/>
                        </a:rPr>
                        <a:t>Training, mentoring or certification</a:t>
                      </a:r>
                      <a:endParaRPr lang="en-US" sz="1200" dirty="0">
                        <a:latin typeface="Calibri" charset="0"/>
                        <a:ea typeface="Calibri" charset="0"/>
                        <a:cs typeface="Calibri" charset="0"/>
                      </a:endParaRPr>
                    </a:p>
                  </a:txBody>
                  <a:tcPr marL="73152" marR="73152" marT="45720" marB="45720" anchor="t">
                    <a:lnL w="12700" cap="flat" cmpd="sng" algn="ctr">
                      <a:solidFill>
                        <a:srgbClr val="A0A0A0"/>
                      </a:solidFill>
                      <a:prstDash val="solid"/>
                      <a:round/>
                      <a:headEnd type="none" w="med" len="med"/>
                      <a:tailEnd type="none" w="med" len="med"/>
                    </a:lnL>
                    <a:lnR w="12700" cap="flat" cmpd="sng" algn="ctr">
                      <a:solidFill>
                        <a:srgbClr val="A0A0A0"/>
                      </a:solidFill>
                      <a:prstDash val="solid"/>
                      <a:round/>
                      <a:headEnd type="none" w="med" len="med"/>
                      <a:tailEnd type="none" w="med" len="med"/>
                    </a:lnR>
                    <a:lnT w="12700" cap="flat" cmpd="sng" algn="ctr">
                      <a:solidFill>
                        <a:srgbClr val="A0A0A0"/>
                      </a:solidFill>
                      <a:prstDash val="solid"/>
                      <a:round/>
                      <a:headEnd type="none" w="med" len="med"/>
                      <a:tailEnd type="none" w="med" len="med"/>
                    </a:lnT>
                    <a:lnB w="12700" cap="flat" cmpd="sng" algn="ctr">
                      <a:solidFill>
                        <a:srgbClr val="A0A0A0"/>
                      </a:solidFill>
                      <a:prstDash val="solid"/>
                      <a:round/>
                      <a:headEnd type="none" w="med" len="med"/>
                      <a:tailEnd type="none" w="med" len="med"/>
                    </a:lnB>
                  </a:tcPr>
                </a:tc>
              </a:tr>
              <a:tr h="548640">
                <a:tc>
                  <a:txBody>
                    <a:bodyPr/>
                    <a:lstStyle/>
                    <a:p>
                      <a:pPr indent="0" marL="0">
                        <a:buNone/>
                      </a:pPr>
                      <a:r>
                        <a:rPr lang="en-US" sz="1200" dirty="0">
                          <a:solidFill>
                            <a:srgbClr val="222222"/>
                          </a:solidFill>
                          <a:latin typeface="Calibri" pitchFamily="34" charset="0"/>
                          <a:ea typeface="Calibri" pitchFamily="34" charset="-122"/>
                          <a:cs typeface="Calibri" pitchFamily="34" charset="-120"/>
                        </a:rPr>
                        <a:t>Low engagement</a:t>
                      </a:r>
                      <a:endParaRPr lang="en-US" sz="1200" dirty="0">
                        <a:latin typeface="Calibri" charset="0"/>
                        <a:ea typeface="Calibri" charset="0"/>
                        <a:cs typeface="Calibri" charset="0"/>
                      </a:endParaRPr>
                    </a:p>
                  </a:txBody>
                  <a:tcPr marL="73152" marR="73152" marT="45720" marB="45720" anchor="t">
                    <a:lnL w="12700" cap="flat" cmpd="sng" algn="ctr">
                      <a:solidFill>
                        <a:srgbClr val="A0A0A0"/>
                      </a:solidFill>
                      <a:prstDash val="solid"/>
                      <a:round/>
                      <a:headEnd type="none" w="med" len="med"/>
                      <a:tailEnd type="none" w="med" len="med"/>
                    </a:lnL>
                    <a:lnR w="12700" cap="flat" cmpd="sng" algn="ctr">
                      <a:solidFill>
                        <a:srgbClr val="A0A0A0"/>
                      </a:solidFill>
                      <a:prstDash val="solid"/>
                      <a:round/>
                      <a:headEnd type="none" w="med" len="med"/>
                      <a:tailEnd type="none" w="med" len="med"/>
                    </a:lnR>
                    <a:lnT w="12700" cap="flat" cmpd="sng" algn="ctr">
                      <a:solidFill>
                        <a:srgbClr val="A0A0A0"/>
                      </a:solidFill>
                      <a:prstDash val="solid"/>
                      <a:round/>
                      <a:headEnd type="none" w="med" len="med"/>
                      <a:tailEnd type="none" w="med" len="med"/>
                    </a:lnT>
                    <a:lnB w="12700" cap="flat" cmpd="sng" algn="ctr">
                      <a:solidFill>
                        <a:srgbClr val="A0A0A0"/>
                      </a:solidFill>
                      <a:prstDash val="solid"/>
                      <a:round/>
                      <a:headEnd type="none" w="med" len="med"/>
                      <a:tailEnd type="none" w="med" len="med"/>
                    </a:lnB>
                    <a:solidFill>
                      <a:srgbClr val="EEF2F7"/>
                    </a:solidFill>
                  </a:tcPr>
                </a:tc>
                <a:tc>
                  <a:txBody>
                    <a:bodyPr/>
                    <a:lstStyle/>
                    <a:p>
                      <a:pPr indent="0" marL="0">
                        <a:buNone/>
                      </a:pPr>
                      <a:r>
                        <a:rPr lang="en-US" sz="1200" dirty="0">
                          <a:solidFill>
                            <a:srgbClr val="222222"/>
                          </a:solidFill>
                          <a:latin typeface="Calibri" pitchFamily="34" charset="0"/>
                          <a:ea typeface="Calibri" pitchFamily="34" charset="-122"/>
                          <a:cs typeface="Calibri" pitchFamily="34" charset="-120"/>
                        </a:rPr>
                        <a:t>Confidential talk and agreed follow-up</a:t>
                      </a:r>
                      <a:endParaRPr lang="en-US" sz="1200" dirty="0">
                        <a:latin typeface="Calibri" charset="0"/>
                        <a:ea typeface="Calibri" charset="0"/>
                        <a:cs typeface="Calibri" charset="0"/>
                      </a:endParaRPr>
                    </a:p>
                  </a:txBody>
                  <a:tcPr marL="73152" marR="73152" marT="45720" marB="45720" anchor="t">
                    <a:lnL w="12700" cap="flat" cmpd="sng" algn="ctr">
                      <a:solidFill>
                        <a:srgbClr val="A0A0A0"/>
                      </a:solidFill>
                      <a:prstDash val="solid"/>
                      <a:round/>
                      <a:headEnd type="none" w="med" len="med"/>
                      <a:tailEnd type="none" w="med" len="med"/>
                    </a:lnL>
                    <a:lnR w="12700" cap="flat" cmpd="sng" algn="ctr">
                      <a:solidFill>
                        <a:srgbClr val="A0A0A0"/>
                      </a:solidFill>
                      <a:prstDash val="solid"/>
                      <a:round/>
                      <a:headEnd type="none" w="med" len="med"/>
                      <a:tailEnd type="none" w="med" len="med"/>
                    </a:lnR>
                    <a:lnT w="12700" cap="flat" cmpd="sng" algn="ctr">
                      <a:solidFill>
                        <a:srgbClr val="A0A0A0"/>
                      </a:solidFill>
                      <a:prstDash val="solid"/>
                      <a:round/>
                      <a:headEnd type="none" w="med" len="med"/>
                      <a:tailEnd type="none" w="med" len="med"/>
                    </a:lnT>
                    <a:lnB w="12700" cap="flat" cmpd="sng" algn="ctr">
                      <a:solidFill>
                        <a:srgbClr val="A0A0A0"/>
                      </a:solidFill>
                      <a:prstDash val="solid"/>
                      <a:round/>
                      <a:headEnd type="none" w="med" len="med"/>
                      <a:tailEnd type="none" w="med" len="med"/>
                    </a:lnB>
                  </a:tcPr>
                </a:tc>
              </a:tr>
            </a:tbl>
          </a:graphicData>
        </a:graphic>
      </p:graphicFrame>
      <p:sp>
        <p:nvSpPr>
          <p:cNvPr id="7" name="Text 4"/>
          <p:cNvSpPr txBox="1"/>
          <p:nvPr/>
        </p:nvSpPr>
        <p:spPr>
          <a:xfrm>
            <a:off x="4937760" y="914400"/>
            <a:ext cx="3749040" cy="320040"/>
          </a:xfrm>
          <a:prstGeom prst="rect">
            <a:avLst/>
          </a:prstGeom>
          <a:noFill/>
          <a:ln/>
        </p:spPr>
        <p:txBody>
          <a:bodyPr wrap="square" lIns="0" tIns="0" rIns="0" bIns="0" rtlCol="0" anchor="ctr"/>
          <a:lstStyle/>
          <a:p>
            <a:pPr indent="0" marL="0">
              <a:buNone/>
            </a:pPr>
            <a:r>
              <a:rPr lang="en-US" sz="1600" b="1" dirty="0">
                <a:solidFill>
                  <a:srgbClr val="1F3A5F"/>
                </a:solidFill>
                <a:latin typeface="Calibri" pitchFamily="34" charset="0"/>
                <a:ea typeface="Calibri" pitchFamily="34" charset="-122"/>
                <a:cs typeface="Calibri" pitchFamily="34" charset="-120"/>
              </a:rPr>
              <a:t>Personal growth plan</a:t>
            </a:r>
            <a:endParaRPr lang="en-US" sz="1600" dirty="0"/>
          </a:p>
        </p:txBody>
      </p:sp>
      <p:sp>
        <p:nvSpPr>
          <p:cNvPr id="8" name="Text 5"/>
          <p:cNvSpPr txBox="1"/>
          <p:nvPr/>
        </p:nvSpPr>
        <p:spPr>
          <a:xfrm>
            <a:off x="4937760" y="1280160"/>
            <a:ext cx="3749040" cy="2377440"/>
          </a:xfrm>
          <a:prstGeom prst="rect">
            <a:avLst/>
          </a:prstGeom>
          <a:noFill/>
          <a:ln/>
        </p:spPr>
        <p:txBody>
          <a:bodyPr wrap="square" lIns="0" tIns="0" rIns="0" bIns="0" rtlCol="0" anchor="t"/>
          <a:lstStyle/>
          <a:p>
            <a:pPr marL="342900" indent="-342900">
              <a:spcAft>
                <a:spcPts val="700"/>
              </a:spcAft>
              <a:buSzPct val="100000"/>
              <a:buChar char="•"/>
            </a:pPr>
            <a:r>
              <a:rPr lang="en-US" sz="1300" dirty="0">
                <a:solidFill>
                  <a:srgbClr val="222222"/>
                </a:solidFill>
                <a:latin typeface="Calibri" pitchFamily="34" charset="0"/>
                <a:ea typeface="Calibri" pitchFamily="34" charset="-122"/>
                <a:cs typeface="Calibri" pitchFamily="34" charset="-120"/>
              </a:rPr>
              <a:t>Build a skills profile: training, certificates, projects</a:t>
            </a:r>
            <a:endParaRPr lang="en-US" sz="1300" dirty="0"/>
          </a:p>
          <a:p>
            <a:pPr marL="342900" indent="-342900">
              <a:spcAft>
                <a:spcPts val="700"/>
              </a:spcAft>
              <a:buSzPct val="100000"/>
              <a:buChar char="•"/>
            </a:pPr>
            <a:r>
              <a:rPr lang="en-US" sz="1300" dirty="0">
                <a:solidFill>
                  <a:srgbClr val="222222"/>
                </a:solidFill>
                <a:latin typeface="Calibri" pitchFamily="34" charset="0"/>
                <a:ea typeface="Calibri" pitchFamily="34" charset="-122"/>
                <a:cs typeface="Calibri" pitchFamily="34" charset="-120"/>
              </a:rPr>
              <a:t>Ask about interests and the role they want</a:t>
            </a:r>
            <a:endParaRPr lang="en-US" sz="1300" dirty="0"/>
          </a:p>
          <a:p>
            <a:pPr marL="342900" indent="-342900">
              <a:spcAft>
                <a:spcPts val="700"/>
              </a:spcAft>
              <a:buSzPct val="100000"/>
              <a:buChar char="•"/>
            </a:pPr>
            <a:r>
              <a:rPr lang="en-US" sz="1300" dirty="0">
                <a:solidFill>
                  <a:srgbClr val="222222"/>
                </a:solidFill>
                <a:latin typeface="Calibri" pitchFamily="34" charset="0"/>
                <a:ea typeface="Calibri" pitchFamily="34" charset="-122"/>
                <a:cs typeface="Calibri" pitchFamily="34" charset="-120"/>
              </a:rPr>
              <a:t>Suggest a few relevant courses or mentors</a:t>
            </a:r>
            <a:endParaRPr lang="en-US" sz="1300" dirty="0"/>
          </a:p>
          <a:p>
            <a:pPr marL="342900" indent="-342900">
              <a:spcAft>
                <a:spcPts val="700"/>
              </a:spcAft>
              <a:buSzPct val="100000"/>
              <a:buChar char="•"/>
            </a:pPr>
            <a:r>
              <a:rPr lang="en-US" sz="1300" dirty="0">
                <a:solidFill>
                  <a:srgbClr val="222222"/>
                </a:solidFill>
                <a:latin typeface="Calibri" pitchFamily="34" charset="0"/>
                <a:ea typeface="Calibri" pitchFamily="34" charset="-122"/>
                <a:cs typeface="Calibri" pitchFamily="34" charset="-120"/>
              </a:rPr>
              <a:t>Suggest internal roles and projects</a:t>
            </a:r>
            <a:endParaRPr lang="en-US" sz="1300" dirty="0"/>
          </a:p>
          <a:p>
            <a:pPr marL="342900" indent="-342900">
              <a:spcAft>
                <a:spcPts val="700"/>
              </a:spcAft>
              <a:buSzPct val="100000"/>
              <a:buChar char="•"/>
            </a:pPr>
            <a:r>
              <a:rPr lang="en-US" sz="1300" dirty="0">
                <a:solidFill>
                  <a:srgbClr val="222222"/>
                </a:solidFill>
                <a:latin typeface="Calibri" pitchFamily="34" charset="0"/>
                <a:ea typeface="Calibri" pitchFamily="34" charset="-122"/>
                <a:cs typeface="Calibri" pitchFamily="34" charset="-120"/>
              </a:rPr>
              <a:t>Review the plan with employee and manager; update it as goals change</a:t>
            </a:r>
            <a:endParaRPr lang="en-US" sz="1300" dirty="0"/>
          </a:p>
        </p:txBody>
      </p:sp>
      <p:sp>
        <p:nvSpPr>
          <p:cNvPr id="9" name="Shape 6"/>
          <p:cNvSpPr/>
          <p:nvPr/>
        </p:nvSpPr>
        <p:spPr>
          <a:xfrm>
            <a:off x="457200" y="3931920"/>
            <a:ext cx="8229600" cy="731520"/>
          </a:xfrm>
          <a:prstGeom prst="rect">
            <a:avLst/>
          </a:prstGeom>
          <a:solidFill>
            <a:srgbClr val="EEF2F7"/>
          </a:solidFill>
          <a:ln w="12700">
            <a:solidFill>
              <a:srgbClr val="EEF2F7"/>
            </a:solidFill>
            <a:prstDash val="solid"/>
          </a:ln>
        </p:spPr>
      </p:sp>
      <p:sp>
        <p:nvSpPr>
          <p:cNvPr id="10" name="Shape 7"/>
          <p:cNvSpPr/>
          <p:nvPr/>
        </p:nvSpPr>
        <p:spPr>
          <a:xfrm>
            <a:off x="457200" y="3931920"/>
            <a:ext cx="73152" cy="731520"/>
          </a:xfrm>
          <a:prstGeom prst="rect">
            <a:avLst/>
          </a:prstGeom>
          <a:solidFill>
            <a:srgbClr val="2A7F8E"/>
          </a:solidFill>
          <a:ln w="12700">
            <a:solidFill>
              <a:srgbClr val="2A7F8E"/>
            </a:solidFill>
            <a:prstDash val="solid"/>
          </a:ln>
        </p:spPr>
      </p:sp>
      <p:sp>
        <p:nvSpPr>
          <p:cNvPr id="11" name="Text 8"/>
          <p:cNvSpPr txBox="1"/>
          <p:nvPr/>
        </p:nvSpPr>
        <p:spPr>
          <a:xfrm>
            <a:off x="640080" y="3931920"/>
            <a:ext cx="7955280" cy="731520"/>
          </a:xfrm>
          <a:prstGeom prst="rect">
            <a:avLst/>
          </a:prstGeom>
          <a:noFill/>
          <a:ln/>
        </p:spPr>
        <p:txBody>
          <a:bodyPr wrap="square" lIns="0" tIns="0" rIns="0" bIns="0" rtlCol="0" anchor="ctr"/>
          <a:lstStyle/>
          <a:p>
            <a:pPr indent="0" marL="0">
              <a:buNone/>
            </a:pPr>
            <a:r>
              <a:rPr lang="en-US" sz="1400" b="1" dirty="0">
                <a:solidFill>
                  <a:srgbClr val="222222"/>
                </a:solidFill>
                <a:latin typeface="Calibri" pitchFamily="34" charset="0"/>
                <a:ea typeface="Calibri" pitchFamily="34" charset="-122"/>
                <a:cs typeface="Calibri" pitchFamily="34" charset="-120"/>
              </a:rPr>
              <a:t>A high risk score is not a fact. It starts a supportive conversation. It is never used for termination, bad reviews, bonus or promotion decisions.</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8229600" cy="548640"/>
          </a:xfrm>
          <a:prstGeom prst="rect">
            <a:avLst/>
          </a:prstGeom>
          <a:noFill/>
          <a:ln/>
        </p:spPr>
        <p:txBody>
          <a:bodyPr wrap="square" lIns="0" tIns="0" rIns="0" bIns="0" rtlCol="0" anchor="ctr"/>
          <a:lstStyle/>
          <a:p>
            <a:pPr indent="0" marL="0">
              <a:buNone/>
            </a:pPr>
            <a:r>
              <a:rPr lang="en-US" sz="2800" b="1" dirty="0">
                <a:solidFill>
                  <a:srgbClr val="1F3A5F"/>
                </a:solidFill>
                <a:latin typeface="Calibri" pitchFamily="34" charset="0"/>
                <a:ea typeface="Calibri" pitchFamily="34" charset="-122"/>
                <a:cs typeface="Calibri" pitchFamily="34" charset="-120"/>
              </a:rPr>
              <a:t>Three Reference Cases</a:t>
            </a:r>
            <a:endParaRPr lang="en-US" sz="2800" dirty="0"/>
          </a:p>
        </p:txBody>
      </p:sp>
      <p:sp>
        <p:nvSpPr>
          <p:cNvPr id="3" name="Shape 1"/>
          <p:cNvSpPr/>
          <p:nvPr/>
        </p:nvSpPr>
        <p:spPr>
          <a:xfrm>
            <a:off x="457200" y="786384"/>
            <a:ext cx="1188720" cy="64008"/>
          </a:xfrm>
          <a:prstGeom prst="rect">
            <a:avLst/>
          </a:prstGeom>
          <a:solidFill>
            <a:srgbClr val="2A7F8E"/>
          </a:solidFill>
          <a:ln w="12700">
            <a:solidFill>
              <a:srgbClr val="2A7F8E"/>
            </a:solidFill>
            <a:prstDash val="solid"/>
          </a:ln>
        </p:spPr>
      </p:sp>
      <p:sp>
        <p:nvSpPr>
          <p:cNvPr id="4" name="Text 2"/>
          <p:cNvSpPr txBox="1"/>
          <p:nvPr/>
        </p:nvSpPr>
        <p:spPr>
          <a:xfrm>
            <a:off x="8321040" y="4846320"/>
            <a:ext cx="365760" cy="228600"/>
          </a:xfrm>
          <a:prstGeom prst="rect">
            <a:avLst/>
          </a:prstGeom>
          <a:noFill/>
          <a:ln/>
        </p:spPr>
        <p:txBody>
          <a:bodyPr wrap="square" lIns="0" tIns="0" rIns="0" bIns="0" rtlCol="0" anchor="ctr"/>
          <a:lstStyle/>
          <a:p>
            <a:pPr algn="r" indent="0" marL="0">
              <a:buNone/>
            </a:pPr>
            <a:r>
              <a:rPr lang="en-US" sz="1000" dirty="0">
                <a:solidFill>
                  <a:srgbClr val="666666"/>
                </a:solidFill>
                <a:latin typeface="Calibri" pitchFamily="34" charset="0"/>
                <a:ea typeface="Calibri" pitchFamily="34" charset="-122"/>
                <a:cs typeface="Calibri" pitchFamily="34" charset="-120"/>
              </a:rPr>
              <a:t>6</a:t>
            </a:r>
            <a:endParaRPr lang="en-US" sz="1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960120"/>
          <a:ext cx="8229600" cy="914400"/>
        </p:xfrm>
        <a:graphic>
          <a:graphicData uri="http://schemas.openxmlformats.org/drawingml/2006/table">
            <a:tbl>
              <a:tblPr/>
              <a:tblGrid>
                <a:gridCol w="1463040"/>
                <a:gridCol w="2011680"/>
                <a:gridCol w="2926080"/>
                <a:gridCol w="1828800"/>
              </a:tblGrid>
              <a:tr h="347472">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Company</a:t>
                      </a:r>
                      <a:endParaRPr lang="en-US" sz="1400" dirty="0">
                        <a:latin typeface="Calibri" charset="0"/>
                        <a:ea typeface="Calibri" charset="0"/>
                        <a:cs typeface="Calibri" charset="0"/>
                      </a:endParaRPr>
                    </a:p>
                  </a:txBody>
                  <a:tcPr marL="91440" marR="91440" marT="54864" marB="54864" anchor="ctr">
                    <a:lnL w="12700" cap="flat" cmpd="sng" algn="ctr">
                      <a:solidFill>
                        <a:srgbClr val="A0A0A0"/>
                      </a:solidFill>
                      <a:prstDash val="solid"/>
                      <a:round/>
                      <a:headEnd type="none" w="med" len="med"/>
                      <a:tailEnd type="none" w="med" len="med"/>
                    </a:lnL>
                    <a:lnR w="12700" cap="flat" cmpd="sng" algn="ctr">
                      <a:solidFill>
                        <a:srgbClr val="A0A0A0"/>
                      </a:solidFill>
                      <a:prstDash val="solid"/>
                      <a:round/>
                      <a:headEnd type="none" w="med" len="med"/>
                      <a:tailEnd type="none" w="med" len="med"/>
                    </a:lnR>
                    <a:lnT w="12700" cap="flat" cmpd="sng" algn="ctr">
                      <a:solidFill>
                        <a:srgbClr val="A0A0A0"/>
                      </a:solidFill>
                      <a:prstDash val="solid"/>
                      <a:round/>
                      <a:headEnd type="none" w="med" len="med"/>
                      <a:tailEnd type="none" w="med" len="med"/>
                    </a:lnT>
                    <a:lnB w="12700" cap="flat" cmpd="sng" algn="ctr">
                      <a:solidFill>
                        <a:srgbClr val="A0A0A0"/>
                      </a:solidFill>
                      <a:prstDash val="solid"/>
                      <a:round/>
                      <a:headEnd type="none" w="med" len="med"/>
                      <a:tailEnd type="none" w="med" len="med"/>
                    </a:lnB>
                    <a:solidFill>
                      <a:srgbClr val="1F3A5F"/>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Known for</a:t>
                      </a:r>
                      <a:endParaRPr lang="en-US" sz="1400" dirty="0">
                        <a:latin typeface="Calibri" charset="0"/>
                        <a:ea typeface="Calibri" charset="0"/>
                        <a:cs typeface="Calibri" charset="0"/>
                      </a:endParaRPr>
                    </a:p>
                  </a:txBody>
                  <a:tcPr marL="91440" marR="91440" marT="54864" marB="54864" anchor="ctr">
                    <a:lnL w="12700" cap="flat" cmpd="sng" algn="ctr">
                      <a:solidFill>
                        <a:srgbClr val="A0A0A0"/>
                      </a:solidFill>
                      <a:prstDash val="solid"/>
                      <a:round/>
                      <a:headEnd type="none" w="med" len="med"/>
                      <a:tailEnd type="none" w="med" len="med"/>
                    </a:lnL>
                    <a:lnR w="12700" cap="flat" cmpd="sng" algn="ctr">
                      <a:solidFill>
                        <a:srgbClr val="A0A0A0"/>
                      </a:solidFill>
                      <a:prstDash val="solid"/>
                      <a:round/>
                      <a:headEnd type="none" w="med" len="med"/>
                      <a:tailEnd type="none" w="med" len="med"/>
                    </a:lnR>
                    <a:lnT w="12700" cap="flat" cmpd="sng" algn="ctr">
                      <a:solidFill>
                        <a:srgbClr val="A0A0A0"/>
                      </a:solidFill>
                      <a:prstDash val="solid"/>
                      <a:round/>
                      <a:headEnd type="none" w="med" len="med"/>
                      <a:tailEnd type="none" w="med" len="med"/>
                    </a:lnT>
                    <a:lnB w="12700" cap="flat" cmpd="sng" algn="ctr">
                      <a:solidFill>
                        <a:srgbClr val="A0A0A0"/>
                      </a:solidFill>
                      <a:prstDash val="solid"/>
                      <a:round/>
                      <a:headEnd type="none" w="med" len="med"/>
                      <a:tailEnd type="none" w="med" len="med"/>
                    </a:lnB>
                    <a:solidFill>
                      <a:srgbClr val="1F3A5F"/>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Tools and ideas</a:t>
                      </a:r>
                      <a:endParaRPr lang="en-US" sz="1400" dirty="0">
                        <a:latin typeface="Calibri" charset="0"/>
                        <a:ea typeface="Calibri" charset="0"/>
                        <a:cs typeface="Calibri" charset="0"/>
                      </a:endParaRPr>
                    </a:p>
                  </a:txBody>
                  <a:tcPr marL="91440" marR="91440" marT="54864" marB="54864" anchor="ctr">
                    <a:lnL w="12700" cap="flat" cmpd="sng" algn="ctr">
                      <a:solidFill>
                        <a:srgbClr val="A0A0A0"/>
                      </a:solidFill>
                      <a:prstDash val="solid"/>
                      <a:round/>
                      <a:headEnd type="none" w="med" len="med"/>
                      <a:tailEnd type="none" w="med" len="med"/>
                    </a:lnL>
                    <a:lnR w="12700" cap="flat" cmpd="sng" algn="ctr">
                      <a:solidFill>
                        <a:srgbClr val="A0A0A0"/>
                      </a:solidFill>
                      <a:prstDash val="solid"/>
                      <a:round/>
                      <a:headEnd type="none" w="med" len="med"/>
                      <a:tailEnd type="none" w="med" len="med"/>
                    </a:lnR>
                    <a:lnT w="12700" cap="flat" cmpd="sng" algn="ctr">
                      <a:solidFill>
                        <a:srgbClr val="A0A0A0"/>
                      </a:solidFill>
                      <a:prstDash val="solid"/>
                      <a:round/>
                      <a:headEnd type="none" w="med" len="med"/>
                      <a:tailEnd type="none" w="med" len="med"/>
                    </a:lnT>
                    <a:lnB w="12700" cap="flat" cmpd="sng" algn="ctr">
                      <a:solidFill>
                        <a:srgbClr val="A0A0A0"/>
                      </a:solidFill>
                      <a:prstDash val="solid"/>
                      <a:round/>
                      <a:headEnd type="none" w="med" len="med"/>
                      <a:tailEnd type="none" w="med" len="med"/>
                    </a:lnB>
                    <a:solidFill>
                      <a:srgbClr val="1F3A5F"/>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What we borrow</a:t>
                      </a:r>
                      <a:endParaRPr lang="en-US" sz="1400" dirty="0">
                        <a:latin typeface="Calibri" charset="0"/>
                        <a:ea typeface="Calibri" charset="0"/>
                        <a:cs typeface="Calibri" charset="0"/>
                      </a:endParaRPr>
                    </a:p>
                  </a:txBody>
                  <a:tcPr marL="91440" marR="91440" marT="54864" marB="54864" anchor="ctr">
                    <a:lnL w="12700" cap="flat" cmpd="sng" algn="ctr">
                      <a:solidFill>
                        <a:srgbClr val="A0A0A0"/>
                      </a:solidFill>
                      <a:prstDash val="solid"/>
                      <a:round/>
                      <a:headEnd type="none" w="med" len="med"/>
                      <a:tailEnd type="none" w="med" len="med"/>
                    </a:lnL>
                    <a:lnR w="12700" cap="flat" cmpd="sng" algn="ctr">
                      <a:solidFill>
                        <a:srgbClr val="A0A0A0"/>
                      </a:solidFill>
                      <a:prstDash val="solid"/>
                      <a:round/>
                      <a:headEnd type="none" w="med" len="med"/>
                      <a:tailEnd type="none" w="med" len="med"/>
                    </a:lnR>
                    <a:lnT w="12700" cap="flat" cmpd="sng" algn="ctr">
                      <a:solidFill>
                        <a:srgbClr val="A0A0A0"/>
                      </a:solidFill>
                      <a:prstDash val="solid"/>
                      <a:round/>
                      <a:headEnd type="none" w="med" len="med"/>
                      <a:tailEnd type="none" w="med" len="med"/>
                    </a:lnT>
                    <a:lnB w="12700" cap="flat" cmpd="sng" algn="ctr">
                      <a:solidFill>
                        <a:srgbClr val="A0A0A0"/>
                      </a:solidFill>
                      <a:prstDash val="solid"/>
                      <a:round/>
                      <a:headEnd type="none" w="med" len="med"/>
                      <a:tailEnd type="none" w="med" len="med"/>
                    </a:lnB>
                    <a:solidFill>
                      <a:srgbClr val="1F3A5F"/>
                    </a:solidFill>
                  </a:tcPr>
                </a:tc>
              </a:tr>
              <a:tr h="594360">
                <a:tc>
                  <a:txBody>
                    <a:bodyPr/>
                    <a:lstStyle/>
                    <a:p>
                      <a:pPr indent="0" marL="0">
                        <a:buNone/>
                      </a:pPr>
                      <a:r>
                        <a:rPr lang="en-US" sz="1300" b="1" dirty="0">
                          <a:solidFill>
                            <a:srgbClr val="222222"/>
                          </a:solidFill>
                          <a:latin typeface="Calibri" pitchFamily="34" charset="0"/>
                          <a:ea typeface="Calibri" pitchFamily="34" charset="-122"/>
                          <a:cs typeface="Calibri" pitchFamily="34" charset="-120"/>
                        </a:rPr>
                        <a:t>Infosys</a:t>
                      </a:r>
                      <a:endParaRPr lang="en-US" sz="1300" dirty="0">
                        <a:latin typeface="Calibri" charset="0"/>
                        <a:ea typeface="Calibri" charset="0"/>
                        <a:cs typeface="Calibri" charset="0"/>
                      </a:endParaRPr>
                    </a:p>
                  </a:txBody>
                  <a:tcPr marL="91440" marR="91440" marT="54864" marB="54864" anchor="t">
                    <a:lnL w="12700" cap="flat" cmpd="sng" algn="ctr">
                      <a:solidFill>
                        <a:srgbClr val="A0A0A0"/>
                      </a:solidFill>
                      <a:prstDash val="solid"/>
                      <a:round/>
                      <a:headEnd type="none" w="med" len="med"/>
                      <a:tailEnd type="none" w="med" len="med"/>
                    </a:lnL>
                    <a:lnR w="12700" cap="flat" cmpd="sng" algn="ctr">
                      <a:solidFill>
                        <a:srgbClr val="A0A0A0"/>
                      </a:solidFill>
                      <a:prstDash val="solid"/>
                      <a:round/>
                      <a:headEnd type="none" w="med" len="med"/>
                      <a:tailEnd type="none" w="med" len="med"/>
                    </a:lnR>
                    <a:lnT w="12700" cap="flat" cmpd="sng" algn="ctr">
                      <a:solidFill>
                        <a:srgbClr val="A0A0A0"/>
                      </a:solidFill>
                      <a:prstDash val="solid"/>
                      <a:round/>
                      <a:headEnd type="none" w="med" len="med"/>
                      <a:tailEnd type="none" w="med" len="med"/>
                    </a:lnT>
                    <a:lnB w="12700" cap="flat" cmpd="sng" algn="ctr">
                      <a:solidFill>
                        <a:srgbClr val="A0A0A0"/>
                      </a:solidFill>
                      <a:prstDash val="solid"/>
                      <a:round/>
                      <a:headEnd type="none" w="med" len="med"/>
                      <a:tailEnd type="none" w="med" len="med"/>
                    </a:lnB>
                    <a:solidFill>
                      <a:srgbClr val="EEF2F7"/>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Learning at scale</a:t>
                      </a:r>
                      <a:endParaRPr lang="en-US" sz="1300" dirty="0">
                        <a:latin typeface="Calibri" charset="0"/>
                        <a:ea typeface="Calibri" charset="0"/>
                        <a:cs typeface="Calibri" charset="0"/>
                      </a:endParaRPr>
                    </a:p>
                  </a:txBody>
                  <a:tcPr marL="91440" marR="91440" marT="54864" marB="54864" anchor="t">
                    <a:lnL w="12700" cap="flat" cmpd="sng" algn="ctr">
                      <a:solidFill>
                        <a:srgbClr val="A0A0A0"/>
                      </a:solidFill>
                      <a:prstDash val="solid"/>
                      <a:round/>
                      <a:headEnd type="none" w="med" len="med"/>
                      <a:tailEnd type="none" w="med" len="med"/>
                    </a:lnL>
                    <a:lnR w="12700" cap="flat" cmpd="sng" algn="ctr">
                      <a:solidFill>
                        <a:srgbClr val="A0A0A0"/>
                      </a:solidFill>
                      <a:prstDash val="solid"/>
                      <a:round/>
                      <a:headEnd type="none" w="med" len="med"/>
                      <a:tailEnd type="none" w="med" len="med"/>
                    </a:lnR>
                    <a:lnT w="12700" cap="flat" cmpd="sng" algn="ctr">
                      <a:solidFill>
                        <a:srgbClr val="A0A0A0"/>
                      </a:solidFill>
                      <a:prstDash val="solid"/>
                      <a:round/>
                      <a:headEnd type="none" w="med" len="med"/>
                      <a:tailEnd type="none" w="med" len="med"/>
                    </a:lnT>
                    <a:lnB w="12700" cap="flat" cmpd="sng" algn="ctr">
                      <a:solidFill>
                        <a:srgbClr val="A0A0A0"/>
                      </a:solidFill>
                      <a:prstDash val="solid"/>
                      <a:round/>
                      <a:headEnd type="none" w="med" len="med"/>
                      <a:tailEnd type="none" w="med" len="med"/>
                    </a:lnB>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Springboard, AI tutors, employee experience</a:t>
                      </a:r>
                      <a:endParaRPr lang="en-US" sz="1300" dirty="0">
                        <a:latin typeface="Calibri" charset="0"/>
                        <a:ea typeface="Calibri" charset="0"/>
                        <a:cs typeface="Calibri" charset="0"/>
                      </a:endParaRPr>
                    </a:p>
                  </a:txBody>
                  <a:tcPr marL="91440" marR="91440" marT="54864" marB="54864" anchor="t">
                    <a:lnL w="12700" cap="flat" cmpd="sng" algn="ctr">
                      <a:solidFill>
                        <a:srgbClr val="A0A0A0"/>
                      </a:solidFill>
                      <a:prstDash val="solid"/>
                      <a:round/>
                      <a:headEnd type="none" w="med" len="med"/>
                      <a:tailEnd type="none" w="med" len="med"/>
                    </a:lnL>
                    <a:lnR w="12700" cap="flat" cmpd="sng" algn="ctr">
                      <a:solidFill>
                        <a:srgbClr val="A0A0A0"/>
                      </a:solidFill>
                      <a:prstDash val="solid"/>
                      <a:round/>
                      <a:headEnd type="none" w="med" len="med"/>
                      <a:tailEnd type="none" w="med" len="med"/>
                    </a:lnR>
                    <a:lnT w="12700" cap="flat" cmpd="sng" algn="ctr">
                      <a:solidFill>
                        <a:srgbClr val="A0A0A0"/>
                      </a:solidFill>
                      <a:prstDash val="solid"/>
                      <a:round/>
                      <a:headEnd type="none" w="med" len="med"/>
                      <a:tailEnd type="none" w="med" len="med"/>
                    </a:lnT>
                    <a:lnB w="12700" cap="flat" cmpd="sng" algn="ctr">
                      <a:solidFill>
                        <a:srgbClr val="A0A0A0"/>
                      </a:solidFill>
                      <a:prstDash val="solid"/>
                      <a:round/>
                      <a:headEnd type="none" w="med" len="med"/>
                      <a:tailEnd type="none" w="med" len="med"/>
                    </a:lnB>
                  </a:tcPr>
                </a:tc>
                <a:tc>
                  <a:txBody>
                    <a:bodyPr/>
                    <a:lstStyle/>
                    <a:p>
                      <a:pPr indent="0" marL="0">
                        <a:buNone/>
                      </a:pPr>
                      <a:r>
                        <a:rPr lang="en-US" sz="1300" b="1" dirty="0">
                          <a:solidFill>
                            <a:srgbClr val="222222"/>
                          </a:solidFill>
                          <a:latin typeface="Calibri" pitchFamily="34" charset="0"/>
                          <a:ea typeface="Calibri" pitchFamily="34" charset="-122"/>
                          <a:cs typeface="Calibri" pitchFamily="34" charset="-120"/>
                        </a:rPr>
                        <a:t>Ideas for Growth AI</a:t>
                      </a:r>
                      <a:endParaRPr lang="en-US" sz="1300" dirty="0">
                        <a:latin typeface="Calibri" charset="0"/>
                        <a:ea typeface="Calibri" charset="0"/>
                        <a:cs typeface="Calibri" charset="0"/>
                      </a:endParaRPr>
                    </a:p>
                  </a:txBody>
                  <a:tcPr marL="91440" marR="91440" marT="54864" marB="54864" anchor="t">
                    <a:lnL w="12700" cap="flat" cmpd="sng" algn="ctr">
                      <a:solidFill>
                        <a:srgbClr val="A0A0A0"/>
                      </a:solidFill>
                      <a:prstDash val="solid"/>
                      <a:round/>
                      <a:headEnd type="none" w="med" len="med"/>
                      <a:tailEnd type="none" w="med" len="med"/>
                    </a:lnL>
                    <a:lnR w="12700" cap="flat" cmpd="sng" algn="ctr">
                      <a:solidFill>
                        <a:srgbClr val="A0A0A0"/>
                      </a:solidFill>
                      <a:prstDash val="solid"/>
                      <a:round/>
                      <a:headEnd type="none" w="med" len="med"/>
                      <a:tailEnd type="none" w="med" len="med"/>
                    </a:lnR>
                    <a:lnT w="12700" cap="flat" cmpd="sng" algn="ctr">
                      <a:solidFill>
                        <a:srgbClr val="A0A0A0"/>
                      </a:solidFill>
                      <a:prstDash val="solid"/>
                      <a:round/>
                      <a:headEnd type="none" w="med" len="med"/>
                      <a:tailEnd type="none" w="med" len="med"/>
                    </a:lnT>
                    <a:lnB w="12700" cap="flat" cmpd="sng" algn="ctr">
                      <a:solidFill>
                        <a:srgbClr val="A0A0A0"/>
                      </a:solidFill>
                      <a:prstDash val="solid"/>
                      <a:round/>
                      <a:headEnd type="none" w="med" len="med"/>
                      <a:tailEnd type="none" w="med" len="med"/>
                    </a:lnB>
                  </a:tcPr>
                </a:tc>
              </a:tr>
              <a:tr h="594360">
                <a:tc>
                  <a:txBody>
                    <a:bodyPr/>
                    <a:lstStyle/>
                    <a:p>
                      <a:pPr indent="0" marL="0">
                        <a:buNone/>
                      </a:pPr>
                      <a:r>
                        <a:rPr lang="en-US" sz="1300" b="1" dirty="0">
                          <a:solidFill>
                            <a:srgbClr val="222222"/>
                          </a:solidFill>
                          <a:latin typeface="Calibri" pitchFamily="34" charset="0"/>
                          <a:ea typeface="Calibri" pitchFamily="34" charset="-122"/>
                          <a:cs typeface="Calibri" pitchFamily="34" charset="-120"/>
                        </a:rPr>
                        <a:t>Accenture</a:t>
                      </a:r>
                      <a:endParaRPr lang="en-US" sz="1300" dirty="0">
                        <a:latin typeface="Calibri" charset="0"/>
                        <a:ea typeface="Calibri" charset="0"/>
                        <a:cs typeface="Calibri" charset="0"/>
                      </a:endParaRPr>
                    </a:p>
                  </a:txBody>
                  <a:tcPr marL="91440" marR="91440" marT="54864" marB="54864" anchor="t">
                    <a:lnL w="12700" cap="flat" cmpd="sng" algn="ctr">
                      <a:solidFill>
                        <a:srgbClr val="A0A0A0"/>
                      </a:solidFill>
                      <a:prstDash val="solid"/>
                      <a:round/>
                      <a:headEnd type="none" w="med" len="med"/>
                      <a:tailEnd type="none" w="med" len="med"/>
                    </a:lnL>
                    <a:lnR w="12700" cap="flat" cmpd="sng" algn="ctr">
                      <a:solidFill>
                        <a:srgbClr val="A0A0A0"/>
                      </a:solidFill>
                      <a:prstDash val="solid"/>
                      <a:round/>
                      <a:headEnd type="none" w="med" len="med"/>
                      <a:tailEnd type="none" w="med" len="med"/>
                    </a:lnR>
                    <a:lnT w="12700" cap="flat" cmpd="sng" algn="ctr">
                      <a:solidFill>
                        <a:srgbClr val="A0A0A0"/>
                      </a:solidFill>
                      <a:prstDash val="solid"/>
                      <a:round/>
                      <a:headEnd type="none" w="med" len="med"/>
                      <a:tailEnd type="none" w="med" len="med"/>
                    </a:lnT>
                    <a:lnB w="12700" cap="flat" cmpd="sng" algn="ctr">
                      <a:solidFill>
                        <a:srgbClr val="A0A0A0"/>
                      </a:solidFill>
                      <a:prstDash val="solid"/>
                      <a:round/>
                      <a:headEnd type="none" w="med" len="med"/>
                      <a:tailEnd type="none" w="med" len="med"/>
                    </a:lnB>
                    <a:solidFill>
                      <a:srgbClr val="EEF2F7"/>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Skills-led workforce</a:t>
                      </a:r>
                      <a:endParaRPr lang="en-US" sz="1300" dirty="0">
                        <a:latin typeface="Calibri" charset="0"/>
                        <a:ea typeface="Calibri" charset="0"/>
                        <a:cs typeface="Calibri" charset="0"/>
                      </a:endParaRPr>
                    </a:p>
                  </a:txBody>
                  <a:tcPr marL="91440" marR="91440" marT="54864" marB="54864" anchor="t">
                    <a:lnL w="12700" cap="flat" cmpd="sng" algn="ctr">
                      <a:solidFill>
                        <a:srgbClr val="A0A0A0"/>
                      </a:solidFill>
                      <a:prstDash val="solid"/>
                      <a:round/>
                      <a:headEnd type="none" w="med" len="med"/>
                      <a:tailEnd type="none" w="med" len="med"/>
                    </a:lnL>
                    <a:lnR w="12700" cap="flat" cmpd="sng" algn="ctr">
                      <a:solidFill>
                        <a:srgbClr val="A0A0A0"/>
                      </a:solidFill>
                      <a:prstDash val="solid"/>
                      <a:round/>
                      <a:headEnd type="none" w="med" len="med"/>
                      <a:tailEnd type="none" w="med" len="med"/>
                    </a:lnR>
                    <a:lnT w="12700" cap="flat" cmpd="sng" algn="ctr">
                      <a:solidFill>
                        <a:srgbClr val="A0A0A0"/>
                      </a:solidFill>
                      <a:prstDash val="solid"/>
                      <a:round/>
                      <a:headEnd type="none" w="med" len="med"/>
                      <a:tailEnd type="none" w="med" len="med"/>
                    </a:lnT>
                    <a:lnB w="12700" cap="flat" cmpd="sng" algn="ctr">
                      <a:solidFill>
                        <a:srgbClr val="A0A0A0"/>
                      </a:solidFill>
                      <a:prstDash val="solid"/>
                      <a:round/>
                      <a:headEnd type="none" w="med" len="med"/>
                      <a:tailEnd type="none" w="med" len="med"/>
                    </a:lnB>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Talent Navigator, internal mobility, human-led AI</a:t>
                      </a:r>
                      <a:endParaRPr lang="en-US" sz="1300" dirty="0">
                        <a:latin typeface="Calibri" charset="0"/>
                        <a:ea typeface="Calibri" charset="0"/>
                        <a:cs typeface="Calibri" charset="0"/>
                      </a:endParaRPr>
                    </a:p>
                  </a:txBody>
                  <a:tcPr marL="91440" marR="91440" marT="54864" marB="54864" anchor="t">
                    <a:lnL w="12700" cap="flat" cmpd="sng" algn="ctr">
                      <a:solidFill>
                        <a:srgbClr val="A0A0A0"/>
                      </a:solidFill>
                      <a:prstDash val="solid"/>
                      <a:round/>
                      <a:headEnd type="none" w="med" len="med"/>
                      <a:tailEnd type="none" w="med" len="med"/>
                    </a:lnL>
                    <a:lnR w="12700" cap="flat" cmpd="sng" algn="ctr">
                      <a:solidFill>
                        <a:srgbClr val="A0A0A0"/>
                      </a:solidFill>
                      <a:prstDash val="solid"/>
                      <a:round/>
                      <a:headEnd type="none" w="med" len="med"/>
                      <a:tailEnd type="none" w="med" len="med"/>
                    </a:lnR>
                    <a:lnT w="12700" cap="flat" cmpd="sng" algn="ctr">
                      <a:solidFill>
                        <a:srgbClr val="A0A0A0"/>
                      </a:solidFill>
                      <a:prstDash val="solid"/>
                      <a:round/>
                      <a:headEnd type="none" w="med" len="med"/>
                      <a:tailEnd type="none" w="med" len="med"/>
                    </a:lnT>
                    <a:lnB w="12700" cap="flat" cmpd="sng" algn="ctr">
                      <a:solidFill>
                        <a:srgbClr val="A0A0A0"/>
                      </a:solidFill>
                      <a:prstDash val="solid"/>
                      <a:round/>
                      <a:headEnd type="none" w="med" len="med"/>
                      <a:tailEnd type="none" w="med" len="med"/>
                    </a:lnB>
                  </a:tcPr>
                </a:tc>
                <a:tc>
                  <a:txBody>
                    <a:bodyPr/>
                    <a:lstStyle/>
                    <a:p>
                      <a:pPr indent="0" marL="0">
                        <a:buNone/>
                      </a:pPr>
                      <a:r>
                        <a:rPr lang="en-US" sz="1300" b="1" dirty="0">
                          <a:solidFill>
                            <a:srgbClr val="222222"/>
                          </a:solidFill>
                          <a:latin typeface="Calibri" pitchFamily="34" charset="0"/>
                          <a:ea typeface="Calibri" pitchFamily="34" charset="-122"/>
                          <a:cs typeface="Calibri" pitchFamily="34" charset="-120"/>
                        </a:rPr>
                        <a:t>Ideas for governance</a:t>
                      </a:r>
                      <a:endParaRPr lang="en-US" sz="1300" dirty="0">
                        <a:latin typeface="Calibri" charset="0"/>
                        <a:ea typeface="Calibri" charset="0"/>
                        <a:cs typeface="Calibri" charset="0"/>
                      </a:endParaRPr>
                    </a:p>
                  </a:txBody>
                  <a:tcPr marL="91440" marR="91440" marT="54864" marB="54864" anchor="t">
                    <a:lnL w="12700" cap="flat" cmpd="sng" algn="ctr">
                      <a:solidFill>
                        <a:srgbClr val="A0A0A0"/>
                      </a:solidFill>
                      <a:prstDash val="solid"/>
                      <a:round/>
                      <a:headEnd type="none" w="med" len="med"/>
                      <a:tailEnd type="none" w="med" len="med"/>
                    </a:lnL>
                    <a:lnR w="12700" cap="flat" cmpd="sng" algn="ctr">
                      <a:solidFill>
                        <a:srgbClr val="A0A0A0"/>
                      </a:solidFill>
                      <a:prstDash val="solid"/>
                      <a:round/>
                      <a:headEnd type="none" w="med" len="med"/>
                      <a:tailEnd type="none" w="med" len="med"/>
                    </a:lnR>
                    <a:lnT w="12700" cap="flat" cmpd="sng" algn="ctr">
                      <a:solidFill>
                        <a:srgbClr val="A0A0A0"/>
                      </a:solidFill>
                      <a:prstDash val="solid"/>
                      <a:round/>
                      <a:headEnd type="none" w="med" len="med"/>
                      <a:tailEnd type="none" w="med" len="med"/>
                    </a:lnT>
                    <a:lnB w="12700" cap="flat" cmpd="sng" algn="ctr">
                      <a:solidFill>
                        <a:srgbClr val="A0A0A0"/>
                      </a:solidFill>
                      <a:prstDash val="solid"/>
                      <a:round/>
                      <a:headEnd type="none" w="med" len="med"/>
                      <a:tailEnd type="none" w="med" len="med"/>
                    </a:lnB>
                  </a:tcPr>
                </a:tc>
              </a:tr>
              <a:tr h="594360">
                <a:tc>
                  <a:txBody>
                    <a:bodyPr/>
                    <a:lstStyle/>
                    <a:p>
                      <a:pPr indent="0" marL="0">
                        <a:buNone/>
                      </a:pPr>
                      <a:r>
                        <a:rPr lang="en-US" sz="1300" b="1" dirty="0">
                          <a:solidFill>
                            <a:srgbClr val="222222"/>
                          </a:solidFill>
                          <a:latin typeface="Calibri" pitchFamily="34" charset="0"/>
                          <a:ea typeface="Calibri" pitchFamily="34" charset="-122"/>
                          <a:cs typeface="Calibri" pitchFamily="34" charset="-120"/>
                        </a:rPr>
                        <a:t>Naukri.com</a:t>
                      </a:r>
                      <a:endParaRPr lang="en-US" sz="1300" dirty="0">
                        <a:latin typeface="Calibri" charset="0"/>
                        <a:ea typeface="Calibri" charset="0"/>
                        <a:cs typeface="Calibri" charset="0"/>
                      </a:endParaRPr>
                    </a:p>
                  </a:txBody>
                  <a:tcPr marL="91440" marR="91440" marT="54864" marB="54864" anchor="t">
                    <a:lnL w="12700" cap="flat" cmpd="sng" algn="ctr">
                      <a:solidFill>
                        <a:srgbClr val="A0A0A0"/>
                      </a:solidFill>
                      <a:prstDash val="solid"/>
                      <a:round/>
                      <a:headEnd type="none" w="med" len="med"/>
                      <a:tailEnd type="none" w="med" len="med"/>
                    </a:lnL>
                    <a:lnR w="12700" cap="flat" cmpd="sng" algn="ctr">
                      <a:solidFill>
                        <a:srgbClr val="A0A0A0"/>
                      </a:solidFill>
                      <a:prstDash val="solid"/>
                      <a:round/>
                      <a:headEnd type="none" w="med" len="med"/>
                      <a:tailEnd type="none" w="med" len="med"/>
                    </a:lnR>
                    <a:lnT w="12700" cap="flat" cmpd="sng" algn="ctr">
                      <a:solidFill>
                        <a:srgbClr val="A0A0A0"/>
                      </a:solidFill>
                      <a:prstDash val="solid"/>
                      <a:round/>
                      <a:headEnd type="none" w="med" len="med"/>
                      <a:tailEnd type="none" w="med" len="med"/>
                    </a:lnT>
                    <a:lnB w="12700" cap="flat" cmpd="sng" algn="ctr">
                      <a:solidFill>
                        <a:srgbClr val="A0A0A0"/>
                      </a:solidFill>
                      <a:prstDash val="solid"/>
                      <a:round/>
                      <a:headEnd type="none" w="med" len="med"/>
                      <a:tailEnd type="none" w="med" len="med"/>
                    </a:lnB>
                    <a:solidFill>
                      <a:srgbClr val="EEF2F7"/>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Talent matching</a:t>
                      </a:r>
                      <a:endParaRPr lang="en-US" sz="1300" dirty="0">
                        <a:latin typeface="Calibri" charset="0"/>
                        <a:ea typeface="Calibri" charset="0"/>
                        <a:cs typeface="Calibri" charset="0"/>
                      </a:endParaRPr>
                    </a:p>
                  </a:txBody>
                  <a:tcPr marL="91440" marR="91440" marT="54864" marB="54864" anchor="t">
                    <a:lnL w="12700" cap="flat" cmpd="sng" algn="ctr">
                      <a:solidFill>
                        <a:srgbClr val="A0A0A0"/>
                      </a:solidFill>
                      <a:prstDash val="solid"/>
                      <a:round/>
                      <a:headEnd type="none" w="med" len="med"/>
                      <a:tailEnd type="none" w="med" len="med"/>
                    </a:lnL>
                    <a:lnR w="12700" cap="flat" cmpd="sng" algn="ctr">
                      <a:solidFill>
                        <a:srgbClr val="A0A0A0"/>
                      </a:solidFill>
                      <a:prstDash val="solid"/>
                      <a:round/>
                      <a:headEnd type="none" w="med" len="med"/>
                      <a:tailEnd type="none" w="med" len="med"/>
                    </a:lnR>
                    <a:lnT w="12700" cap="flat" cmpd="sng" algn="ctr">
                      <a:solidFill>
                        <a:srgbClr val="A0A0A0"/>
                      </a:solidFill>
                      <a:prstDash val="solid"/>
                      <a:round/>
                      <a:headEnd type="none" w="med" len="med"/>
                      <a:tailEnd type="none" w="med" len="med"/>
                    </a:lnT>
                    <a:lnB w="12700" cap="flat" cmpd="sng" algn="ctr">
                      <a:solidFill>
                        <a:srgbClr val="A0A0A0"/>
                      </a:solidFill>
                      <a:prstDash val="solid"/>
                      <a:round/>
                      <a:headEnd type="none" w="med" len="med"/>
                      <a:tailEnd type="none" w="med" len="med"/>
                    </a:lnB>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AI REX, sourcing, candidate ranking</a:t>
                      </a:r>
                      <a:endParaRPr lang="en-US" sz="1300" dirty="0">
                        <a:latin typeface="Calibri" charset="0"/>
                        <a:ea typeface="Calibri" charset="0"/>
                        <a:cs typeface="Calibri" charset="0"/>
                      </a:endParaRPr>
                    </a:p>
                  </a:txBody>
                  <a:tcPr marL="91440" marR="91440" marT="54864" marB="54864" anchor="t">
                    <a:lnL w="12700" cap="flat" cmpd="sng" algn="ctr">
                      <a:solidFill>
                        <a:srgbClr val="A0A0A0"/>
                      </a:solidFill>
                      <a:prstDash val="solid"/>
                      <a:round/>
                      <a:headEnd type="none" w="med" len="med"/>
                      <a:tailEnd type="none" w="med" len="med"/>
                    </a:lnL>
                    <a:lnR w="12700" cap="flat" cmpd="sng" algn="ctr">
                      <a:solidFill>
                        <a:srgbClr val="A0A0A0"/>
                      </a:solidFill>
                      <a:prstDash val="solid"/>
                      <a:round/>
                      <a:headEnd type="none" w="med" len="med"/>
                      <a:tailEnd type="none" w="med" len="med"/>
                    </a:lnR>
                    <a:lnT w="12700" cap="flat" cmpd="sng" algn="ctr">
                      <a:solidFill>
                        <a:srgbClr val="A0A0A0"/>
                      </a:solidFill>
                      <a:prstDash val="solid"/>
                      <a:round/>
                      <a:headEnd type="none" w="med" len="med"/>
                      <a:tailEnd type="none" w="med" len="med"/>
                    </a:lnT>
                    <a:lnB w="12700" cap="flat" cmpd="sng" algn="ctr">
                      <a:solidFill>
                        <a:srgbClr val="A0A0A0"/>
                      </a:solidFill>
                      <a:prstDash val="solid"/>
                      <a:round/>
                      <a:headEnd type="none" w="med" len="med"/>
                      <a:tailEnd type="none" w="med" len="med"/>
                    </a:lnB>
                  </a:tcPr>
                </a:tc>
                <a:tc>
                  <a:txBody>
                    <a:bodyPr/>
                    <a:lstStyle/>
                    <a:p>
                      <a:pPr indent="0" marL="0">
                        <a:buNone/>
                      </a:pPr>
                      <a:r>
                        <a:rPr lang="en-US" sz="1300" b="1" dirty="0">
                          <a:solidFill>
                            <a:srgbClr val="222222"/>
                          </a:solidFill>
                          <a:latin typeface="Calibri" pitchFamily="34" charset="0"/>
                          <a:ea typeface="Calibri" pitchFamily="34" charset="-122"/>
                          <a:cs typeface="Calibri" pitchFamily="34" charset="-120"/>
                        </a:rPr>
                        <a:t>Ideas for fair hiring</a:t>
                      </a:r>
                      <a:endParaRPr lang="en-US" sz="1300" dirty="0">
                        <a:latin typeface="Calibri" charset="0"/>
                        <a:ea typeface="Calibri" charset="0"/>
                        <a:cs typeface="Calibri" charset="0"/>
                      </a:endParaRPr>
                    </a:p>
                  </a:txBody>
                  <a:tcPr marL="91440" marR="91440" marT="54864" marB="54864" anchor="t">
                    <a:lnL w="12700" cap="flat" cmpd="sng" algn="ctr">
                      <a:solidFill>
                        <a:srgbClr val="A0A0A0"/>
                      </a:solidFill>
                      <a:prstDash val="solid"/>
                      <a:round/>
                      <a:headEnd type="none" w="med" len="med"/>
                      <a:tailEnd type="none" w="med" len="med"/>
                    </a:lnL>
                    <a:lnR w="12700" cap="flat" cmpd="sng" algn="ctr">
                      <a:solidFill>
                        <a:srgbClr val="A0A0A0"/>
                      </a:solidFill>
                      <a:prstDash val="solid"/>
                      <a:round/>
                      <a:headEnd type="none" w="med" len="med"/>
                      <a:tailEnd type="none" w="med" len="med"/>
                    </a:lnR>
                    <a:lnT w="12700" cap="flat" cmpd="sng" algn="ctr">
                      <a:solidFill>
                        <a:srgbClr val="A0A0A0"/>
                      </a:solidFill>
                      <a:prstDash val="solid"/>
                      <a:round/>
                      <a:headEnd type="none" w="med" len="med"/>
                      <a:tailEnd type="none" w="med" len="med"/>
                    </a:lnT>
                    <a:lnB w="12700" cap="flat" cmpd="sng" algn="ctr">
                      <a:solidFill>
                        <a:srgbClr val="A0A0A0"/>
                      </a:solidFill>
                      <a:prstDash val="solid"/>
                      <a:round/>
                      <a:headEnd type="none" w="med" len="med"/>
                      <a:tailEnd type="none" w="med" len="med"/>
                    </a:lnB>
                  </a:tcPr>
                </a:tc>
              </a:tr>
            </a:tbl>
          </a:graphicData>
        </a:graphic>
      </p:graphicFrame>
      <p:sp>
        <p:nvSpPr>
          <p:cNvPr id="6" name="Shape 3"/>
          <p:cNvSpPr/>
          <p:nvPr/>
        </p:nvSpPr>
        <p:spPr>
          <a:xfrm>
            <a:off x="457200" y="3474720"/>
            <a:ext cx="8229600" cy="502920"/>
          </a:xfrm>
          <a:prstGeom prst="rect">
            <a:avLst/>
          </a:prstGeom>
          <a:solidFill>
            <a:srgbClr val="EEF2F7"/>
          </a:solidFill>
          <a:ln w="12700">
            <a:solidFill>
              <a:srgbClr val="EEF2F7"/>
            </a:solidFill>
            <a:prstDash val="solid"/>
          </a:ln>
        </p:spPr>
      </p:sp>
      <p:sp>
        <p:nvSpPr>
          <p:cNvPr id="7" name="Shape 4"/>
          <p:cNvSpPr/>
          <p:nvPr/>
        </p:nvSpPr>
        <p:spPr>
          <a:xfrm>
            <a:off x="457200" y="3474720"/>
            <a:ext cx="73152" cy="502920"/>
          </a:xfrm>
          <a:prstGeom prst="rect">
            <a:avLst/>
          </a:prstGeom>
          <a:solidFill>
            <a:srgbClr val="2A7F8E"/>
          </a:solidFill>
          <a:ln w="12700">
            <a:solidFill>
              <a:srgbClr val="2A7F8E"/>
            </a:solidFill>
            <a:prstDash val="solid"/>
          </a:ln>
        </p:spPr>
      </p:sp>
      <p:sp>
        <p:nvSpPr>
          <p:cNvPr id="8" name="Text 5"/>
          <p:cNvSpPr txBox="1"/>
          <p:nvPr/>
        </p:nvSpPr>
        <p:spPr>
          <a:xfrm>
            <a:off x="640080" y="3474720"/>
            <a:ext cx="7955280" cy="502920"/>
          </a:xfrm>
          <a:prstGeom prst="rect">
            <a:avLst/>
          </a:prstGeom>
          <a:noFill/>
          <a:ln/>
        </p:spPr>
        <p:txBody>
          <a:bodyPr wrap="square" lIns="0" tIns="0" rIns="0" bIns="0" rtlCol="0" anchor="ctr"/>
          <a:lstStyle/>
          <a:p>
            <a:pPr indent="0" marL="0">
              <a:buNone/>
            </a:pPr>
            <a:r>
              <a:rPr lang="en-US" sz="1500" b="1" dirty="0">
                <a:solidFill>
                  <a:srgbClr val="222222"/>
                </a:solidFill>
                <a:latin typeface="Calibri" pitchFamily="34" charset="0"/>
                <a:ea typeface="Calibri" pitchFamily="34" charset="-122"/>
                <a:cs typeface="Calibri" pitchFamily="34" charset="-120"/>
              </a:rPr>
              <a:t>We borrow the best ideas, not the whole playbook.</a:t>
            </a:r>
            <a:endParaRPr lang="en-US" sz="1500" dirty="0"/>
          </a:p>
        </p:txBody>
      </p:sp>
      <p:sp>
        <p:nvSpPr>
          <p:cNvPr id="9" name="Shape 6"/>
          <p:cNvSpPr/>
          <p:nvPr/>
        </p:nvSpPr>
        <p:spPr>
          <a:xfrm>
            <a:off x="457200" y="4114800"/>
            <a:ext cx="8229600" cy="502920"/>
          </a:xfrm>
          <a:prstGeom prst="rect">
            <a:avLst/>
          </a:prstGeom>
          <a:solidFill>
            <a:srgbClr val="EEF2F7"/>
          </a:solidFill>
          <a:ln w="12700">
            <a:solidFill>
              <a:srgbClr val="EEF2F7"/>
            </a:solidFill>
            <a:prstDash val="solid"/>
          </a:ln>
        </p:spPr>
      </p:sp>
      <p:sp>
        <p:nvSpPr>
          <p:cNvPr id="10" name="Shape 7"/>
          <p:cNvSpPr/>
          <p:nvPr/>
        </p:nvSpPr>
        <p:spPr>
          <a:xfrm>
            <a:off x="457200" y="4114800"/>
            <a:ext cx="73152" cy="502920"/>
          </a:xfrm>
          <a:prstGeom prst="rect">
            <a:avLst/>
          </a:prstGeom>
          <a:solidFill>
            <a:srgbClr val="1F3A5F"/>
          </a:solidFill>
          <a:ln w="12700">
            <a:solidFill>
              <a:srgbClr val="1F3A5F"/>
            </a:solidFill>
            <a:prstDash val="solid"/>
          </a:ln>
        </p:spPr>
      </p:sp>
      <p:sp>
        <p:nvSpPr>
          <p:cNvPr id="11" name="Text 8"/>
          <p:cNvSpPr txBox="1"/>
          <p:nvPr/>
        </p:nvSpPr>
        <p:spPr>
          <a:xfrm>
            <a:off x="640080" y="4114800"/>
            <a:ext cx="7955280" cy="502920"/>
          </a:xfrm>
          <a:prstGeom prst="rect">
            <a:avLst/>
          </a:prstGeom>
          <a:noFill/>
          <a:ln/>
        </p:spPr>
        <p:txBody>
          <a:bodyPr wrap="square" lIns="0" tIns="0" rIns="0" bIns="0" rtlCol="0" anchor="ctr"/>
          <a:lstStyle/>
          <a:p>
            <a:pPr indent="0" marL="0">
              <a:buNone/>
            </a:pPr>
            <a:r>
              <a:rPr lang="en-US" sz="1400" dirty="0">
                <a:solidFill>
                  <a:srgbClr val="222222"/>
                </a:solidFill>
                <a:latin typeface="Calibri" pitchFamily="34" charset="0"/>
                <a:ea typeface="Calibri" pitchFamily="34" charset="-122"/>
                <a:cs typeface="Calibri" pitchFamily="34" charset="-120"/>
              </a:rPr>
              <a:t>Company-reported results are claims to test, not guaranteed outcomes.</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8229600" cy="548640"/>
          </a:xfrm>
          <a:prstGeom prst="rect">
            <a:avLst/>
          </a:prstGeom>
          <a:noFill/>
          <a:ln/>
        </p:spPr>
        <p:txBody>
          <a:bodyPr wrap="square" lIns="0" tIns="0" rIns="0" bIns="0" rtlCol="0" anchor="ctr"/>
          <a:lstStyle/>
          <a:p>
            <a:pPr indent="0" marL="0">
              <a:buNone/>
            </a:pPr>
            <a:r>
              <a:rPr lang="en-US" sz="2800" b="1" dirty="0">
                <a:solidFill>
                  <a:srgbClr val="1F3A5F"/>
                </a:solidFill>
                <a:latin typeface="Calibri" pitchFamily="34" charset="0"/>
                <a:ea typeface="Calibri" pitchFamily="34" charset="-122"/>
                <a:cs typeface="Calibri" pitchFamily="34" charset="-120"/>
              </a:rPr>
              <a:t>Trust by Design (Responsible AI)</a:t>
            </a:r>
            <a:endParaRPr lang="en-US" sz="2800" dirty="0"/>
          </a:p>
        </p:txBody>
      </p:sp>
      <p:sp>
        <p:nvSpPr>
          <p:cNvPr id="3" name="Shape 1"/>
          <p:cNvSpPr/>
          <p:nvPr/>
        </p:nvSpPr>
        <p:spPr>
          <a:xfrm>
            <a:off x="457200" y="786384"/>
            <a:ext cx="1188720" cy="64008"/>
          </a:xfrm>
          <a:prstGeom prst="rect">
            <a:avLst/>
          </a:prstGeom>
          <a:solidFill>
            <a:srgbClr val="2A7F8E"/>
          </a:solidFill>
          <a:ln w="12700">
            <a:solidFill>
              <a:srgbClr val="2A7F8E"/>
            </a:solidFill>
            <a:prstDash val="solid"/>
          </a:ln>
        </p:spPr>
      </p:sp>
      <p:sp>
        <p:nvSpPr>
          <p:cNvPr id="4" name="Text 2"/>
          <p:cNvSpPr txBox="1"/>
          <p:nvPr/>
        </p:nvSpPr>
        <p:spPr>
          <a:xfrm>
            <a:off x="8321040" y="4846320"/>
            <a:ext cx="365760" cy="228600"/>
          </a:xfrm>
          <a:prstGeom prst="rect">
            <a:avLst/>
          </a:prstGeom>
          <a:noFill/>
          <a:ln/>
        </p:spPr>
        <p:txBody>
          <a:bodyPr wrap="square" lIns="0" tIns="0" rIns="0" bIns="0" rtlCol="0" anchor="ctr"/>
          <a:lstStyle/>
          <a:p>
            <a:pPr algn="r" indent="0" marL="0">
              <a:buNone/>
            </a:pPr>
            <a:r>
              <a:rPr lang="en-US" sz="1000" dirty="0">
                <a:solidFill>
                  <a:srgbClr val="666666"/>
                </a:solidFill>
                <a:latin typeface="Calibri" pitchFamily="34" charset="0"/>
                <a:ea typeface="Calibri" pitchFamily="34" charset="-122"/>
                <a:cs typeface="Calibri" pitchFamily="34" charset="-120"/>
              </a:rPr>
              <a:t>7</a:t>
            </a:r>
            <a:endParaRPr lang="en-US" sz="1000" dirty="0"/>
          </a:p>
        </p:txBody>
      </p:sp>
      <p:sp>
        <p:nvSpPr>
          <p:cNvPr id="5" name="Text 3"/>
          <p:cNvSpPr txBox="1"/>
          <p:nvPr/>
        </p:nvSpPr>
        <p:spPr>
          <a:xfrm>
            <a:off x="457200" y="914400"/>
            <a:ext cx="8229600" cy="320040"/>
          </a:xfrm>
          <a:prstGeom prst="rect">
            <a:avLst/>
          </a:prstGeom>
          <a:noFill/>
          <a:ln/>
        </p:spPr>
        <p:txBody>
          <a:bodyPr wrap="square" lIns="0" tIns="0" rIns="0" bIns="0" rtlCol="0" anchor="ctr"/>
          <a:lstStyle/>
          <a:p>
            <a:pPr indent="0" marL="0">
              <a:buNone/>
            </a:pPr>
            <a:r>
              <a:rPr lang="en-US" sz="1500" i="1" dirty="0">
                <a:solidFill>
                  <a:srgbClr val="666666"/>
                </a:solidFill>
                <a:latin typeface="Calibri" pitchFamily="34" charset="0"/>
                <a:ea typeface="Calibri" pitchFamily="34" charset="-122"/>
                <a:cs typeface="Calibri" pitchFamily="34" charset="-120"/>
              </a:rPr>
              <a:t>HR decisions affect people's livelihoods, so safeguards come first.</a:t>
            </a:r>
            <a:endParaRPr lang="en-US" sz="1500" dirty="0"/>
          </a:p>
        </p:txBody>
      </p:sp>
      <p:sp>
        <p:nvSpPr>
          <p:cNvPr id="6" name="Text 4"/>
          <p:cNvSpPr txBox="1"/>
          <p:nvPr/>
        </p:nvSpPr>
        <p:spPr>
          <a:xfrm>
            <a:off x="457200" y="1371600"/>
            <a:ext cx="1417320" cy="457200"/>
          </a:xfrm>
          <a:prstGeom prst="rect">
            <a:avLst/>
          </a:prstGeom>
          <a:solidFill>
            <a:srgbClr val="1F3A5F"/>
          </a:solidFill>
          <a:ln/>
        </p:spPr>
        <p:txBody>
          <a:bodyPr wrap="square" lIns="381" tIns="381" rIns="381" bIns="381"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Fairness</a:t>
            </a:r>
            <a:endParaRPr lang="en-US" sz="1250" dirty="0"/>
          </a:p>
        </p:txBody>
      </p:sp>
      <p:sp>
        <p:nvSpPr>
          <p:cNvPr id="7" name="Text 5"/>
          <p:cNvSpPr txBox="1"/>
          <p:nvPr/>
        </p:nvSpPr>
        <p:spPr>
          <a:xfrm>
            <a:off x="1965960" y="1371600"/>
            <a:ext cx="2468880" cy="457200"/>
          </a:xfrm>
          <a:prstGeom prst="rect">
            <a:avLst/>
          </a:prstGeom>
          <a:noFill/>
          <a:ln/>
        </p:spPr>
        <p:txBody>
          <a:bodyPr wrap="square" lIns="0" tIns="0" rIns="0" bIns="0" rtlCol="0" anchor="ctr"/>
          <a:lstStyle/>
          <a:p>
            <a:pPr indent="0" marL="0">
              <a:buNone/>
            </a:pPr>
            <a:r>
              <a:rPr lang="en-US" sz="1300" dirty="0">
                <a:solidFill>
                  <a:srgbClr val="222222"/>
                </a:solidFill>
                <a:latin typeface="Calibri" pitchFamily="34" charset="0"/>
                <a:ea typeface="Calibri" pitchFamily="34" charset="-122"/>
                <a:cs typeface="Calibri" pitchFamily="34" charset="-120"/>
              </a:rPr>
              <a:t>Regular bias audits</a:t>
            </a:r>
            <a:endParaRPr lang="en-US" sz="1300" dirty="0"/>
          </a:p>
        </p:txBody>
      </p:sp>
      <p:sp>
        <p:nvSpPr>
          <p:cNvPr id="8" name="Text 6"/>
          <p:cNvSpPr txBox="1"/>
          <p:nvPr/>
        </p:nvSpPr>
        <p:spPr>
          <a:xfrm>
            <a:off x="457200" y="1938528"/>
            <a:ext cx="1417320" cy="457200"/>
          </a:xfrm>
          <a:prstGeom prst="rect">
            <a:avLst/>
          </a:prstGeom>
          <a:solidFill>
            <a:srgbClr val="1F3A5F"/>
          </a:solidFill>
          <a:ln/>
        </p:spPr>
        <p:txBody>
          <a:bodyPr wrap="square" lIns="381" tIns="381" rIns="381" bIns="381"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Transparency</a:t>
            </a:r>
            <a:endParaRPr lang="en-US" sz="1250" dirty="0"/>
          </a:p>
        </p:txBody>
      </p:sp>
      <p:sp>
        <p:nvSpPr>
          <p:cNvPr id="9" name="Text 7"/>
          <p:cNvSpPr txBox="1"/>
          <p:nvPr/>
        </p:nvSpPr>
        <p:spPr>
          <a:xfrm>
            <a:off x="1965960" y="1938528"/>
            <a:ext cx="2468880" cy="457200"/>
          </a:xfrm>
          <a:prstGeom prst="rect">
            <a:avLst/>
          </a:prstGeom>
          <a:noFill/>
          <a:ln/>
        </p:spPr>
        <p:txBody>
          <a:bodyPr wrap="square" lIns="0" tIns="0" rIns="0" bIns="0" rtlCol="0" anchor="ctr"/>
          <a:lstStyle/>
          <a:p>
            <a:pPr indent="0" marL="0">
              <a:buNone/>
            </a:pPr>
            <a:r>
              <a:rPr lang="en-US" sz="1300" dirty="0">
                <a:solidFill>
                  <a:srgbClr val="222222"/>
                </a:solidFill>
                <a:latin typeface="Calibri" pitchFamily="34" charset="0"/>
                <a:ea typeface="Calibri" pitchFamily="34" charset="-122"/>
                <a:cs typeface="Calibri" pitchFamily="34" charset="-120"/>
              </a:rPr>
              <a:t>Explain every score</a:t>
            </a:r>
            <a:endParaRPr lang="en-US" sz="1300" dirty="0"/>
          </a:p>
        </p:txBody>
      </p:sp>
      <p:sp>
        <p:nvSpPr>
          <p:cNvPr id="10" name="Text 8"/>
          <p:cNvSpPr txBox="1"/>
          <p:nvPr/>
        </p:nvSpPr>
        <p:spPr>
          <a:xfrm>
            <a:off x="457200" y="2505456"/>
            <a:ext cx="1417320" cy="457200"/>
          </a:xfrm>
          <a:prstGeom prst="rect">
            <a:avLst/>
          </a:prstGeom>
          <a:solidFill>
            <a:srgbClr val="1F3A5F"/>
          </a:solidFill>
          <a:ln/>
        </p:spPr>
        <p:txBody>
          <a:bodyPr wrap="square" lIns="381" tIns="381" rIns="381" bIns="381"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Accountability</a:t>
            </a:r>
            <a:endParaRPr lang="en-US" sz="1250" dirty="0"/>
          </a:p>
        </p:txBody>
      </p:sp>
      <p:sp>
        <p:nvSpPr>
          <p:cNvPr id="11" name="Text 9"/>
          <p:cNvSpPr txBox="1"/>
          <p:nvPr/>
        </p:nvSpPr>
        <p:spPr>
          <a:xfrm>
            <a:off x="1965960" y="2505456"/>
            <a:ext cx="2468880" cy="457200"/>
          </a:xfrm>
          <a:prstGeom prst="rect">
            <a:avLst/>
          </a:prstGeom>
          <a:noFill/>
          <a:ln/>
        </p:spPr>
        <p:txBody>
          <a:bodyPr wrap="square" lIns="0" tIns="0" rIns="0" bIns="0" rtlCol="0" anchor="ctr"/>
          <a:lstStyle/>
          <a:p>
            <a:pPr indent="0" marL="0">
              <a:buNone/>
            </a:pPr>
            <a:r>
              <a:rPr lang="en-US" sz="1300" dirty="0">
                <a:solidFill>
                  <a:srgbClr val="222222"/>
                </a:solidFill>
                <a:latin typeface="Calibri" pitchFamily="34" charset="0"/>
                <a:ea typeface="Calibri" pitchFamily="34" charset="-122"/>
                <a:cs typeface="Calibri" pitchFamily="34" charset="-120"/>
              </a:rPr>
              <a:t>A named owner for each model</a:t>
            </a:r>
            <a:endParaRPr lang="en-US" sz="1300" dirty="0"/>
          </a:p>
        </p:txBody>
      </p:sp>
      <p:sp>
        <p:nvSpPr>
          <p:cNvPr id="12" name="Text 10"/>
          <p:cNvSpPr txBox="1"/>
          <p:nvPr/>
        </p:nvSpPr>
        <p:spPr>
          <a:xfrm>
            <a:off x="457200" y="3072384"/>
            <a:ext cx="1417320" cy="457200"/>
          </a:xfrm>
          <a:prstGeom prst="rect">
            <a:avLst/>
          </a:prstGeom>
          <a:solidFill>
            <a:srgbClr val="1F3A5F"/>
          </a:solidFill>
          <a:ln/>
        </p:spPr>
        <p:txBody>
          <a:bodyPr wrap="square" lIns="381" tIns="381" rIns="381" bIns="381"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Privacy</a:t>
            </a:r>
            <a:endParaRPr lang="en-US" sz="1250" dirty="0"/>
          </a:p>
        </p:txBody>
      </p:sp>
      <p:sp>
        <p:nvSpPr>
          <p:cNvPr id="13" name="Text 11"/>
          <p:cNvSpPr txBox="1"/>
          <p:nvPr/>
        </p:nvSpPr>
        <p:spPr>
          <a:xfrm>
            <a:off x="1965960" y="3072384"/>
            <a:ext cx="2468880" cy="457200"/>
          </a:xfrm>
          <a:prstGeom prst="rect">
            <a:avLst/>
          </a:prstGeom>
          <a:noFill/>
          <a:ln/>
        </p:spPr>
        <p:txBody>
          <a:bodyPr wrap="square" lIns="0" tIns="0" rIns="0" bIns="0" rtlCol="0" anchor="ctr"/>
          <a:lstStyle/>
          <a:p>
            <a:pPr indent="0" marL="0">
              <a:buNone/>
            </a:pPr>
            <a:r>
              <a:rPr lang="en-US" sz="1300" dirty="0">
                <a:solidFill>
                  <a:srgbClr val="222222"/>
                </a:solidFill>
                <a:latin typeface="Calibri" pitchFamily="34" charset="0"/>
                <a:ea typeface="Calibri" pitchFamily="34" charset="-122"/>
                <a:cs typeface="Calibri" pitchFamily="34" charset="-120"/>
              </a:rPr>
              <a:t>Minimum data; group insights only</a:t>
            </a:r>
            <a:endParaRPr lang="en-US" sz="1300" dirty="0"/>
          </a:p>
        </p:txBody>
      </p:sp>
      <p:sp>
        <p:nvSpPr>
          <p:cNvPr id="14" name="Text 12"/>
          <p:cNvSpPr txBox="1"/>
          <p:nvPr/>
        </p:nvSpPr>
        <p:spPr>
          <a:xfrm>
            <a:off x="4663440" y="1371600"/>
            <a:ext cx="1417320" cy="457200"/>
          </a:xfrm>
          <a:prstGeom prst="rect">
            <a:avLst/>
          </a:prstGeom>
          <a:solidFill>
            <a:srgbClr val="1F3A5F"/>
          </a:solidFill>
          <a:ln/>
        </p:spPr>
        <p:txBody>
          <a:bodyPr wrap="square" lIns="381" tIns="381" rIns="381" bIns="381"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Safety</a:t>
            </a:r>
            <a:endParaRPr lang="en-US" sz="1250" dirty="0"/>
          </a:p>
        </p:txBody>
      </p:sp>
      <p:sp>
        <p:nvSpPr>
          <p:cNvPr id="15" name="Text 13"/>
          <p:cNvSpPr txBox="1"/>
          <p:nvPr/>
        </p:nvSpPr>
        <p:spPr>
          <a:xfrm>
            <a:off x="6172200" y="1371600"/>
            <a:ext cx="2468880" cy="457200"/>
          </a:xfrm>
          <a:prstGeom prst="rect">
            <a:avLst/>
          </a:prstGeom>
          <a:noFill/>
          <a:ln/>
        </p:spPr>
        <p:txBody>
          <a:bodyPr wrap="square" lIns="0" tIns="0" rIns="0" bIns="0" rtlCol="0" anchor="ctr"/>
          <a:lstStyle/>
          <a:p>
            <a:pPr indent="0" marL="0">
              <a:buNone/>
            </a:pPr>
            <a:r>
              <a:rPr lang="en-US" sz="1300" dirty="0">
                <a:solidFill>
                  <a:srgbClr val="222222"/>
                </a:solidFill>
                <a:latin typeface="Calibri" pitchFamily="34" charset="0"/>
                <a:ea typeface="Calibri" pitchFamily="34" charset="-122"/>
                <a:cs typeface="Calibri" pitchFamily="34" charset="-120"/>
              </a:rPr>
              <a:t>No layoff or promotion-denial decisions</a:t>
            </a:r>
            <a:endParaRPr lang="en-US" sz="1300" dirty="0"/>
          </a:p>
        </p:txBody>
      </p:sp>
      <p:sp>
        <p:nvSpPr>
          <p:cNvPr id="16" name="Text 14"/>
          <p:cNvSpPr txBox="1"/>
          <p:nvPr/>
        </p:nvSpPr>
        <p:spPr>
          <a:xfrm>
            <a:off x="4663440" y="1938528"/>
            <a:ext cx="1417320" cy="457200"/>
          </a:xfrm>
          <a:prstGeom prst="rect">
            <a:avLst/>
          </a:prstGeom>
          <a:solidFill>
            <a:srgbClr val="1F3A5F"/>
          </a:solidFill>
          <a:ln/>
        </p:spPr>
        <p:txBody>
          <a:bodyPr wrap="square" lIns="381" tIns="381" rIns="381" bIns="381"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Human oversight</a:t>
            </a:r>
            <a:endParaRPr lang="en-US" sz="1250" dirty="0"/>
          </a:p>
        </p:txBody>
      </p:sp>
      <p:sp>
        <p:nvSpPr>
          <p:cNvPr id="17" name="Text 15"/>
          <p:cNvSpPr txBox="1"/>
          <p:nvPr/>
        </p:nvSpPr>
        <p:spPr>
          <a:xfrm>
            <a:off x="6172200" y="1938528"/>
            <a:ext cx="2468880" cy="457200"/>
          </a:xfrm>
          <a:prstGeom prst="rect">
            <a:avLst/>
          </a:prstGeom>
          <a:noFill/>
          <a:ln/>
        </p:spPr>
        <p:txBody>
          <a:bodyPr wrap="square" lIns="0" tIns="0" rIns="0" bIns="0" rtlCol="0" anchor="ctr"/>
          <a:lstStyle/>
          <a:p>
            <a:pPr indent="0" marL="0">
              <a:buNone/>
            </a:pPr>
            <a:r>
              <a:rPr lang="en-US" sz="1300" dirty="0">
                <a:solidFill>
                  <a:srgbClr val="222222"/>
                </a:solidFill>
                <a:latin typeface="Calibri" pitchFamily="34" charset="0"/>
                <a:ea typeface="Calibri" pitchFamily="34" charset="-122"/>
                <a:cs typeface="Calibri" pitchFamily="34" charset="-120"/>
              </a:rPr>
              <a:t>People make final decisions</a:t>
            </a:r>
            <a:endParaRPr lang="en-US" sz="1300" dirty="0"/>
          </a:p>
        </p:txBody>
      </p:sp>
      <p:sp>
        <p:nvSpPr>
          <p:cNvPr id="18" name="Text 16"/>
          <p:cNvSpPr txBox="1"/>
          <p:nvPr/>
        </p:nvSpPr>
        <p:spPr>
          <a:xfrm>
            <a:off x="4663440" y="2505456"/>
            <a:ext cx="1417320" cy="457200"/>
          </a:xfrm>
          <a:prstGeom prst="rect">
            <a:avLst/>
          </a:prstGeom>
          <a:solidFill>
            <a:srgbClr val="1F3A5F"/>
          </a:solidFill>
          <a:ln/>
        </p:spPr>
        <p:txBody>
          <a:bodyPr wrap="square" lIns="381" tIns="381" rIns="381" bIns="381"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Sustainability</a:t>
            </a:r>
            <a:endParaRPr lang="en-US" sz="1250" dirty="0"/>
          </a:p>
        </p:txBody>
      </p:sp>
      <p:sp>
        <p:nvSpPr>
          <p:cNvPr id="19" name="Text 17"/>
          <p:cNvSpPr txBox="1"/>
          <p:nvPr/>
        </p:nvSpPr>
        <p:spPr>
          <a:xfrm>
            <a:off x="6172200" y="2505456"/>
            <a:ext cx="2468880" cy="457200"/>
          </a:xfrm>
          <a:prstGeom prst="rect">
            <a:avLst/>
          </a:prstGeom>
          <a:noFill/>
          <a:ln/>
        </p:spPr>
        <p:txBody>
          <a:bodyPr wrap="square" lIns="0" tIns="0" rIns="0" bIns="0" rtlCol="0" anchor="ctr"/>
          <a:lstStyle/>
          <a:p>
            <a:pPr indent="0" marL="0">
              <a:buNone/>
            </a:pPr>
            <a:r>
              <a:rPr lang="en-US" sz="1300" dirty="0">
                <a:solidFill>
                  <a:srgbClr val="222222"/>
                </a:solidFill>
                <a:latin typeface="Calibri" pitchFamily="34" charset="0"/>
                <a:ea typeface="Calibri" pitchFamily="34" charset="-122"/>
                <a:cs typeface="Calibri" pitchFamily="34" charset="-120"/>
              </a:rPr>
              <a:t>Use right-sized models</a:t>
            </a:r>
            <a:endParaRPr lang="en-US" sz="1300" dirty="0"/>
          </a:p>
        </p:txBody>
      </p:sp>
      <p:sp>
        <p:nvSpPr>
          <p:cNvPr id="20" name="Shape 18"/>
          <p:cNvSpPr/>
          <p:nvPr/>
        </p:nvSpPr>
        <p:spPr>
          <a:xfrm>
            <a:off x="4663440" y="3108960"/>
            <a:ext cx="4023360" cy="548640"/>
          </a:xfrm>
          <a:prstGeom prst="rect">
            <a:avLst/>
          </a:prstGeom>
          <a:solidFill>
            <a:srgbClr val="EEF2F7"/>
          </a:solidFill>
          <a:ln w="12700">
            <a:solidFill>
              <a:srgbClr val="EEF2F7"/>
            </a:solidFill>
            <a:prstDash val="solid"/>
          </a:ln>
        </p:spPr>
      </p:sp>
      <p:sp>
        <p:nvSpPr>
          <p:cNvPr id="21" name="Shape 19"/>
          <p:cNvSpPr/>
          <p:nvPr/>
        </p:nvSpPr>
        <p:spPr>
          <a:xfrm>
            <a:off x="4663440" y="3108960"/>
            <a:ext cx="73152" cy="548640"/>
          </a:xfrm>
          <a:prstGeom prst="rect">
            <a:avLst/>
          </a:prstGeom>
          <a:solidFill>
            <a:srgbClr val="2A7F8E"/>
          </a:solidFill>
          <a:ln w="12700">
            <a:solidFill>
              <a:srgbClr val="2A7F8E"/>
            </a:solidFill>
            <a:prstDash val="solid"/>
          </a:ln>
        </p:spPr>
      </p:sp>
      <p:sp>
        <p:nvSpPr>
          <p:cNvPr id="22" name="Text 20"/>
          <p:cNvSpPr txBox="1"/>
          <p:nvPr/>
        </p:nvSpPr>
        <p:spPr>
          <a:xfrm>
            <a:off x="4846320" y="3108960"/>
            <a:ext cx="3749040" cy="548640"/>
          </a:xfrm>
          <a:prstGeom prst="rect">
            <a:avLst/>
          </a:prstGeom>
          <a:noFill/>
          <a:ln/>
        </p:spPr>
        <p:txBody>
          <a:bodyPr wrap="square" lIns="0" tIns="0" rIns="0" bIns="0" rtlCol="0" anchor="ctr"/>
          <a:lstStyle/>
          <a:p>
            <a:pPr indent="0" marL="0">
              <a:buNone/>
            </a:pPr>
            <a:r>
              <a:rPr lang="en-US" sz="1250" dirty="0">
                <a:solidFill>
                  <a:srgbClr val="222222"/>
                </a:solidFill>
                <a:latin typeface="Calibri" pitchFamily="34" charset="0"/>
                <a:ea typeface="Calibri" pitchFamily="34" charset="-122"/>
                <a:cs typeface="Calibri" pitchFamily="34" charset="-120"/>
              </a:rPr>
              <a:t>Lesson from Amazon: biased past data can produce biased hiring.</a:t>
            </a:r>
            <a:endParaRPr lang="en-US" sz="1250" dirty="0"/>
          </a:p>
        </p:txBody>
      </p:sp>
      <p:sp>
        <p:nvSpPr>
          <p:cNvPr id="23" name="Shape 21"/>
          <p:cNvSpPr/>
          <p:nvPr/>
        </p:nvSpPr>
        <p:spPr>
          <a:xfrm>
            <a:off x="457200" y="3931920"/>
            <a:ext cx="8229600" cy="640080"/>
          </a:xfrm>
          <a:prstGeom prst="rect">
            <a:avLst/>
          </a:prstGeom>
          <a:solidFill>
            <a:srgbClr val="EEF2F7"/>
          </a:solidFill>
          <a:ln w="12700">
            <a:solidFill>
              <a:srgbClr val="EEF2F7"/>
            </a:solidFill>
            <a:prstDash val="solid"/>
          </a:ln>
        </p:spPr>
      </p:sp>
      <p:sp>
        <p:nvSpPr>
          <p:cNvPr id="24" name="Shape 22"/>
          <p:cNvSpPr/>
          <p:nvPr/>
        </p:nvSpPr>
        <p:spPr>
          <a:xfrm>
            <a:off x="457200" y="3931920"/>
            <a:ext cx="73152" cy="640080"/>
          </a:xfrm>
          <a:prstGeom prst="rect">
            <a:avLst/>
          </a:prstGeom>
          <a:solidFill>
            <a:srgbClr val="1F3A5F"/>
          </a:solidFill>
          <a:ln w="12700">
            <a:solidFill>
              <a:srgbClr val="1F3A5F"/>
            </a:solidFill>
            <a:prstDash val="solid"/>
          </a:ln>
        </p:spPr>
      </p:sp>
      <p:sp>
        <p:nvSpPr>
          <p:cNvPr id="25" name="Text 23"/>
          <p:cNvSpPr txBox="1"/>
          <p:nvPr/>
        </p:nvSpPr>
        <p:spPr>
          <a:xfrm>
            <a:off x="640080" y="3931920"/>
            <a:ext cx="7955280" cy="640080"/>
          </a:xfrm>
          <a:prstGeom prst="rect">
            <a:avLst/>
          </a:prstGeom>
          <a:noFill/>
          <a:ln/>
        </p:spPr>
        <p:txBody>
          <a:bodyPr wrap="square" lIns="0" tIns="0" rIns="0" bIns="0" rtlCol="0" anchor="ctr"/>
          <a:lstStyle/>
          <a:p>
            <a:pPr indent="0" marL="0">
              <a:buNone/>
            </a:pPr>
            <a:r>
              <a:rPr lang="en-US" sz="1600" b="1" dirty="0">
                <a:solidFill>
                  <a:srgbClr val="222222"/>
                </a:solidFill>
                <a:latin typeface="Calibri" pitchFamily="34" charset="0"/>
                <a:ea typeface="Calibri" pitchFamily="34" charset="-122"/>
                <a:cs typeface="Calibri" pitchFamily="34" charset="-120"/>
              </a:rPr>
              <a:t>Trust first: an AI Ethics Committee, a written policy and quarterly audits.</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8229600" cy="548640"/>
          </a:xfrm>
          <a:prstGeom prst="rect">
            <a:avLst/>
          </a:prstGeom>
          <a:noFill/>
          <a:ln/>
        </p:spPr>
        <p:txBody>
          <a:bodyPr wrap="square" lIns="0" tIns="0" rIns="0" bIns="0" rtlCol="0" anchor="ctr"/>
          <a:lstStyle/>
          <a:p>
            <a:pPr indent="0" marL="0">
              <a:buNone/>
            </a:pPr>
            <a:r>
              <a:rPr lang="en-US" sz="2800" b="1" dirty="0">
                <a:solidFill>
                  <a:srgbClr val="1F3A5F"/>
                </a:solidFill>
                <a:latin typeface="Calibri" pitchFamily="34" charset="0"/>
                <a:ea typeface="Calibri" pitchFamily="34" charset="-122"/>
                <a:cs typeface="Calibri" pitchFamily="34" charset="-120"/>
              </a:rPr>
              <a:t>Roadmap, ROI and Recommendation</a:t>
            </a:r>
            <a:endParaRPr lang="en-US" sz="2800" dirty="0"/>
          </a:p>
        </p:txBody>
      </p:sp>
      <p:sp>
        <p:nvSpPr>
          <p:cNvPr id="3" name="Shape 1"/>
          <p:cNvSpPr/>
          <p:nvPr/>
        </p:nvSpPr>
        <p:spPr>
          <a:xfrm>
            <a:off x="457200" y="786384"/>
            <a:ext cx="1188720" cy="64008"/>
          </a:xfrm>
          <a:prstGeom prst="rect">
            <a:avLst/>
          </a:prstGeom>
          <a:solidFill>
            <a:srgbClr val="2A7F8E"/>
          </a:solidFill>
          <a:ln w="12700">
            <a:solidFill>
              <a:srgbClr val="2A7F8E"/>
            </a:solidFill>
            <a:prstDash val="solid"/>
          </a:ln>
        </p:spPr>
      </p:sp>
      <p:sp>
        <p:nvSpPr>
          <p:cNvPr id="4" name="Text 2"/>
          <p:cNvSpPr txBox="1"/>
          <p:nvPr/>
        </p:nvSpPr>
        <p:spPr>
          <a:xfrm>
            <a:off x="8321040" y="4846320"/>
            <a:ext cx="365760" cy="228600"/>
          </a:xfrm>
          <a:prstGeom prst="rect">
            <a:avLst/>
          </a:prstGeom>
          <a:noFill/>
          <a:ln/>
        </p:spPr>
        <p:txBody>
          <a:bodyPr wrap="square" lIns="0" tIns="0" rIns="0" bIns="0" rtlCol="0" anchor="ctr"/>
          <a:lstStyle/>
          <a:p>
            <a:pPr algn="r" indent="0" marL="0">
              <a:buNone/>
            </a:pPr>
            <a:r>
              <a:rPr lang="en-US" sz="1000" dirty="0">
                <a:solidFill>
                  <a:srgbClr val="666666"/>
                </a:solidFill>
                <a:latin typeface="Calibri" pitchFamily="34" charset="0"/>
                <a:ea typeface="Calibri" pitchFamily="34" charset="-122"/>
                <a:cs typeface="Calibri" pitchFamily="34" charset="-120"/>
              </a:rPr>
              <a:t>8</a:t>
            </a:r>
            <a:endParaRPr lang="en-US" sz="1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960120"/>
          <a:ext cx="4937760" cy="914400"/>
        </p:xfrm>
        <a:graphic>
          <a:graphicData uri="http://schemas.openxmlformats.org/drawingml/2006/table">
            <a:tbl>
              <a:tblPr/>
              <a:tblGrid>
                <a:gridCol w="1188720"/>
                <a:gridCol w="1280160"/>
                <a:gridCol w="2468880"/>
              </a:tblGrid>
              <a:tr h="310896">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When</a:t>
                      </a:r>
                      <a:endParaRPr lang="en-US" sz="1400" dirty="0">
                        <a:latin typeface="Calibri" charset="0"/>
                        <a:ea typeface="Calibri" charset="0"/>
                        <a:cs typeface="Calibri" charset="0"/>
                      </a:endParaRPr>
                    </a:p>
                  </a:txBody>
                  <a:tcPr marL="73152" marR="73152" marT="45720" marB="45720" anchor="ctr">
                    <a:lnL w="12700" cap="flat" cmpd="sng" algn="ctr">
                      <a:solidFill>
                        <a:srgbClr val="A0A0A0"/>
                      </a:solidFill>
                      <a:prstDash val="solid"/>
                      <a:round/>
                      <a:headEnd type="none" w="med" len="med"/>
                      <a:tailEnd type="none" w="med" len="med"/>
                    </a:lnL>
                    <a:lnR w="12700" cap="flat" cmpd="sng" algn="ctr">
                      <a:solidFill>
                        <a:srgbClr val="A0A0A0"/>
                      </a:solidFill>
                      <a:prstDash val="solid"/>
                      <a:round/>
                      <a:headEnd type="none" w="med" len="med"/>
                      <a:tailEnd type="none" w="med" len="med"/>
                    </a:lnR>
                    <a:lnT w="12700" cap="flat" cmpd="sng" algn="ctr">
                      <a:solidFill>
                        <a:srgbClr val="A0A0A0"/>
                      </a:solidFill>
                      <a:prstDash val="solid"/>
                      <a:round/>
                      <a:headEnd type="none" w="med" len="med"/>
                      <a:tailEnd type="none" w="med" len="med"/>
                    </a:lnT>
                    <a:lnB w="12700" cap="flat" cmpd="sng" algn="ctr">
                      <a:solidFill>
                        <a:srgbClr val="A0A0A0"/>
                      </a:solidFill>
                      <a:prstDash val="solid"/>
                      <a:round/>
                      <a:headEnd type="none" w="med" len="med"/>
                      <a:tailEnd type="none" w="med" len="med"/>
                    </a:lnB>
                    <a:solidFill>
                      <a:srgbClr val="1F3A5F"/>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Stage</a:t>
                      </a:r>
                      <a:endParaRPr lang="en-US" sz="1400" dirty="0">
                        <a:latin typeface="Calibri" charset="0"/>
                        <a:ea typeface="Calibri" charset="0"/>
                        <a:cs typeface="Calibri" charset="0"/>
                      </a:endParaRPr>
                    </a:p>
                  </a:txBody>
                  <a:tcPr marL="73152" marR="73152" marT="45720" marB="45720" anchor="ctr">
                    <a:lnL w="12700" cap="flat" cmpd="sng" algn="ctr">
                      <a:solidFill>
                        <a:srgbClr val="A0A0A0"/>
                      </a:solidFill>
                      <a:prstDash val="solid"/>
                      <a:round/>
                      <a:headEnd type="none" w="med" len="med"/>
                      <a:tailEnd type="none" w="med" len="med"/>
                    </a:lnL>
                    <a:lnR w="12700" cap="flat" cmpd="sng" algn="ctr">
                      <a:solidFill>
                        <a:srgbClr val="A0A0A0"/>
                      </a:solidFill>
                      <a:prstDash val="solid"/>
                      <a:round/>
                      <a:headEnd type="none" w="med" len="med"/>
                      <a:tailEnd type="none" w="med" len="med"/>
                    </a:lnR>
                    <a:lnT w="12700" cap="flat" cmpd="sng" algn="ctr">
                      <a:solidFill>
                        <a:srgbClr val="A0A0A0"/>
                      </a:solidFill>
                      <a:prstDash val="solid"/>
                      <a:round/>
                      <a:headEnd type="none" w="med" len="med"/>
                      <a:tailEnd type="none" w="med" len="med"/>
                    </a:lnT>
                    <a:lnB w="12700" cap="flat" cmpd="sng" algn="ctr">
                      <a:solidFill>
                        <a:srgbClr val="A0A0A0"/>
                      </a:solidFill>
                      <a:prstDash val="solid"/>
                      <a:round/>
                      <a:headEnd type="none" w="med" len="med"/>
                      <a:tailEnd type="none" w="med" len="med"/>
                    </a:lnB>
                    <a:solidFill>
                      <a:srgbClr val="1F3A5F"/>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What we do</a:t>
                      </a:r>
                      <a:endParaRPr lang="en-US" sz="1400" dirty="0">
                        <a:latin typeface="Calibri" charset="0"/>
                        <a:ea typeface="Calibri" charset="0"/>
                        <a:cs typeface="Calibri" charset="0"/>
                      </a:endParaRPr>
                    </a:p>
                  </a:txBody>
                  <a:tcPr marL="73152" marR="73152" marT="45720" marB="45720" anchor="ctr">
                    <a:lnL w="12700" cap="flat" cmpd="sng" algn="ctr">
                      <a:solidFill>
                        <a:srgbClr val="A0A0A0"/>
                      </a:solidFill>
                      <a:prstDash val="solid"/>
                      <a:round/>
                      <a:headEnd type="none" w="med" len="med"/>
                      <a:tailEnd type="none" w="med" len="med"/>
                    </a:lnL>
                    <a:lnR w="12700" cap="flat" cmpd="sng" algn="ctr">
                      <a:solidFill>
                        <a:srgbClr val="A0A0A0"/>
                      </a:solidFill>
                      <a:prstDash val="solid"/>
                      <a:round/>
                      <a:headEnd type="none" w="med" len="med"/>
                      <a:tailEnd type="none" w="med" len="med"/>
                    </a:lnR>
                    <a:lnT w="12700" cap="flat" cmpd="sng" algn="ctr">
                      <a:solidFill>
                        <a:srgbClr val="A0A0A0"/>
                      </a:solidFill>
                      <a:prstDash val="solid"/>
                      <a:round/>
                      <a:headEnd type="none" w="med" len="med"/>
                      <a:tailEnd type="none" w="med" len="med"/>
                    </a:lnT>
                    <a:lnB w="12700" cap="flat" cmpd="sng" algn="ctr">
                      <a:solidFill>
                        <a:srgbClr val="A0A0A0"/>
                      </a:solidFill>
                      <a:prstDash val="solid"/>
                      <a:round/>
                      <a:headEnd type="none" w="med" len="med"/>
                      <a:tailEnd type="none" w="med" len="med"/>
                    </a:lnB>
                    <a:solidFill>
                      <a:srgbClr val="1F3A5F"/>
                    </a:solidFill>
                  </a:tcPr>
                </a:tc>
              </a:tr>
              <a:tr h="502920">
                <a:tc>
                  <a:txBody>
                    <a:bodyPr/>
                    <a:lstStyle/>
                    <a:p>
                      <a:pPr indent="0" marL="0">
                        <a:buNone/>
                      </a:pPr>
                      <a:r>
                        <a:rPr lang="en-US" sz="1200" b="1" dirty="0">
                          <a:solidFill>
                            <a:srgbClr val="222222"/>
                          </a:solidFill>
                          <a:latin typeface="Calibri" pitchFamily="34" charset="0"/>
                          <a:ea typeface="Calibri" pitchFamily="34" charset="-122"/>
                          <a:cs typeface="Calibri" pitchFamily="34" charset="-120"/>
                        </a:rPr>
                        <a:t>0–6 months</a:t>
                      </a:r>
                      <a:endParaRPr lang="en-US" sz="1200" dirty="0">
                        <a:latin typeface="Calibri" charset="0"/>
                        <a:ea typeface="Calibri" charset="0"/>
                        <a:cs typeface="Calibri" charset="0"/>
                      </a:endParaRPr>
                    </a:p>
                  </a:txBody>
                  <a:tcPr marL="73152" marR="73152" marT="45720" marB="45720" anchor="t">
                    <a:lnL w="12700" cap="flat" cmpd="sng" algn="ctr">
                      <a:solidFill>
                        <a:srgbClr val="A0A0A0"/>
                      </a:solidFill>
                      <a:prstDash val="solid"/>
                      <a:round/>
                      <a:headEnd type="none" w="med" len="med"/>
                      <a:tailEnd type="none" w="med" len="med"/>
                    </a:lnL>
                    <a:lnR w="12700" cap="flat" cmpd="sng" algn="ctr">
                      <a:solidFill>
                        <a:srgbClr val="A0A0A0"/>
                      </a:solidFill>
                      <a:prstDash val="solid"/>
                      <a:round/>
                      <a:headEnd type="none" w="med" len="med"/>
                      <a:tailEnd type="none" w="med" len="med"/>
                    </a:lnR>
                    <a:lnT w="12700" cap="flat" cmpd="sng" algn="ctr">
                      <a:solidFill>
                        <a:srgbClr val="A0A0A0"/>
                      </a:solidFill>
                      <a:prstDash val="solid"/>
                      <a:round/>
                      <a:headEnd type="none" w="med" len="med"/>
                      <a:tailEnd type="none" w="med" len="med"/>
                    </a:lnT>
                    <a:lnB w="12700" cap="flat" cmpd="sng" algn="ctr">
                      <a:solidFill>
                        <a:srgbClr val="A0A0A0"/>
                      </a:solidFill>
                      <a:prstDash val="solid"/>
                      <a:round/>
                      <a:headEnd type="none" w="med" len="med"/>
                      <a:tailEnd type="none" w="med" len="med"/>
                    </a:lnB>
                    <a:solidFill>
                      <a:srgbClr val="EEF2F7"/>
                    </a:solidFill>
                  </a:tcPr>
                </a:tc>
                <a:tc>
                  <a:txBody>
                    <a:bodyPr/>
                    <a:lstStyle/>
                    <a:p>
                      <a:pPr indent="0" marL="0">
                        <a:buNone/>
                      </a:pPr>
                      <a:r>
                        <a:rPr lang="en-US" sz="1200" dirty="0">
                          <a:solidFill>
                            <a:srgbClr val="222222"/>
                          </a:solidFill>
                          <a:latin typeface="Calibri" pitchFamily="34" charset="0"/>
                          <a:ea typeface="Calibri" pitchFamily="34" charset="-122"/>
                          <a:cs typeface="Calibri" pitchFamily="34" charset="-120"/>
                        </a:rPr>
                        <a:t>Ready and pilot</a:t>
                      </a:r>
                      <a:endParaRPr lang="en-US" sz="1200" dirty="0">
                        <a:latin typeface="Calibri" charset="0"/>
                        <a:ea typeface="Calibri" charset="0"/>
                        <a:cs typeface="Calibri" charset="0"/>
                      </a:endParaRPr>
                    </a:p>
                  </a:txBody>
                  <a:tcPr marL="73152" marR="73152" marT="45720" marB="45720" anchor="t">
                    <a:lnL w="12700" cap="flat" cmpd="sng" algn="ctr">
                      <a:solidFill>
                        <a:srgbClr val="A0A0A0"/>
                      </a:solidFill>
                      <a:prstDash val="solid"/>
                      <a:round/>
                      <a:headEnd type="none" w="med" len="med"/>
                      <a:tailEnd type="none" w="med" len="med"/>
                    </a:lnL>
                    <a:lnR w="12700" cap="flat" cmpd="sng" algn="ctr">
                      <a:solidFill>
                        <a:srgbClr val="A0A0A0"/>
                      </a:solidFill>
                      <a:prstDash val="solid"/>
                      <a:round/>
                      <a:headEnd type="none" w="med" len="med"/>
                      <a:tailEnd type="none" w="med" len="med"/>
                    </a:lnR>
                    <a:lnT w="12700" cap="flat" cmpd="sng" algn="ctr">
                      <a:solidFill>
                        <a:srgbClr val="A0A0A0"/>
                      </a:solidFill>
                      <a:prstDash val="solid"/>
                      <a:round/>
                      <a:headEnd type="none" w="med" len="med"/>
                      <a:tailEnd type="none" w="med" len="med"/>
                    </a:lnT>
                    <a:lnB w="12700" cap="flat" cmpd="sng" algn="ctr">
                      <a:solidFill>
                        <a:srgbClr val="A0A0A0"/>
                      </a:solidFill>
                      <a:prstDash val="solid"/>
                      <a:round/>
                      <a:headEnd type="none" w="med" len="med"/>
                      <a:tailEnd type="none" w="med" len="med"/>
                    </a:lnB>
                  </a:tcPr>
                </a:tc>
                <a:tc>
                  <a:txBody>
                    <a:bodyPr/>
                    <a:lstStyle/>
                    <a:p>
                      <a:pPr indent="0" marL="0">
                        <a:buNone/>
                      </a:pPr>
                      <a:r>
                        <a:rPr lang="en-US" sz="1200" dirty="0">
                          <a:solidFill>
                            <a:srgbClr val="222222"/>
                          </a:solidFill>
                          <a:latin typeface="Calibri" pitchFamily="34" charset="0"/>
                          <a:ea typeface="Calibri" pitchFamily="34" charset="-122"/>
                          <a:cs typeface="Calibri" pitchFamily="34" charset="-120"/>
                        </a:rPr>
                        <a:t>8-week readiness sprint, hiring pilot, bias audit</a:t>
                      </a:r>
                      <a:endParaRPr lang="en-US" sz="1200" dirty="0">
                        <a:latin typeface="Calibri" charset="0"/>
                        <a:ea typeface="Calibri" charset="0"/>
                        <a:cs typeface="Calibri" charset="0"/>
                      </a:endParaRPr>
                    </a:p>
                  </a:txBody>
                  <a:tcPr marL="73152" marR="73152" marT="45720" marB="45720" anchor="t">
                    <a:lnL w="12700" cap="flat" cmpd="sng" algn="ctr">
                      <a:solidFill>
                        <a:srgbClr val="A0A0A0"/>
                      </a:solidFill>
                      <a:prstDash val="solid"/>
                      <a:round/>
                      <a:headEnd type="none" w="med" len="med"/>
                      <a:tailEnd type="none" w="med" len="med"/>
                    </a:lnL>
                    <a:lnR w="12700" cap="flat" cmpd="sng" algn="ctr">
                      <a:solidFill>
                        <a:srgbClr val="A0A0A0"/>
                      </a:solidFill>
                      <a:prstDash val="solid"/>
                      <a:round/>
                      <a:headEnd type="none" w="med" len="med"/>
                      <a:tailEnd type="none" w="med" len="med"/>
                    </a:lnR>
                    <a:lnT w="12700" cap="flat" cmpd="sng" algn="ctr">
                      <a:solidFill>
                        <a:srgbClr val="A0A0A0"/>
                      </a:solidFill>
                      <a:prstDash val="solid"/>
                      <a:round/>
                      <a:headEnd type="none" w="med" len="med"/>
                      <a:tailEnd type="none" w="med" len="med"/>
                    </a:lnT>
                    <a:lnB w="12700" cap="flat" cmpd="sng" algn="ctr">
                      <a:solidFill>
                        <a:srgbClr val="A0A0A0"/>
                      </a:solidFill>
                      <a:prstDash val="solid"/>
                      <a:round/>
                      <a:headEnd type="none" w="med" len="med"/>
                      <a:tailEnd type="none" w="med" len="med"/>
                    </a:lnB>
                  </a:tcPr>
                </a:tc>
              </a:tr>
              <a:tr h="502920">
                <a:tc>
                  <a:txBody>
                    <a:bodyPr/>
                    <a:lstStyle/>
                    <a:p>
                      <a:pPr indent="0" marL="0">
                        <a:buNone/>
                      </a:pPr>
                      <a:r>
                        <a:rPr lang="en-US" sz="1200" b="1" dirty="0">
                          <a:solidFill>
                            <a:srgbClr val="222222"/>
                          </a:solidFill>
                          <a:latin typeface="Calibri" pitchFamily="34" charset="0"/>
                          <a:ea typeface="Calibri" pitchFamily="34" charset="-122"/>
                          <a:cs typeface="Calibri" pitchFamily="34" charset="-120"/>
                        </a:rPr>
                        <a:t>6–18 months</a:t>
                      </a:r>
                      <a:endParaRPr lang="en-US" sz="1200" dirty="0">
                        <a:latin typeface="Calibri" charset="0"/>
                        <a:ea typeface="Calibri" charset="0"/>
                        <a:cs typeface="Calibri" charset="0"/>
                      </a:endParaRPr>
                    </a:p>
                  </a:txBody>
                  <a:tcPr marL="73152" marR="73152" marT="45720" marB="45720" anchor="t">
                    <a:lnL w="12700" cap="flat" cmpd="sng" algn="ctr">
                      <a:solidFill>
                        <a:srgbClr val="A0A0A0"/>
                      </a:solidFill>
                      <a:prstDash val="solid"/>
                      <a:round/>
                      <a:headEnd type="none" w="med" len="med"/>
                      <a:tailEnd type="none" w="med" len="med"/>
                    </a:lnL>
                    <a:lnR w="12700" cap="flat" cmpd="sng" algn="ctr">
                      <a:solidFill>
                        <a:srgbClr val="A0A0A0"/>
                      </a:solidFill>
                      <a:prstDash val="solid"/>
                      <a:round/>
                      <a:headEnd type="none" w="med" len="med"/>
                      <a:tailEnd type="none" w="med" len="med"/>
                    </a:lnR>
                    <a:lnT w="12700" cap="flat" cmpd="sng" algn="ctr">
                      <a:solidFill>
                        <a:srgbClr val="A0A0A0"/>
                      </a:solidFill>
                      <a:prstDash val="solid"/>
                      <a:round/>
                      <a:headEnd type="none" w="med" len="med"/>
                      <a:tailEnd type="none" w="med" len="med"/>
                    </a:lnT>
                    <a:lnB w="12700" cap="flat" cmpd="sng" algn="ctr">
                      <a:solidFill>
                        <a:srgbClr val="A0A0A0"/>
                      </a:solidFill>
                      <a:prstDash val="solid"/>
                      <a:round/>
                      <a:headEnd type="none" w="med" len="med"/>
                      <a:tailEnd type="none" w="med" len="med"/>
                    </a:lnB>
                    <a:solidFill>
                      <a:srgbClr val="EEF2F7"/>
                    </a:solidFill>
                  </a:tcPr>
                </a:tc>
                <a:tc>
                  <a:txBody>
                    <a:bodyPr/>
                    <a:lstStyle/>
                    <a:p>
                      <a:pPr indent="0" marL="0">
                        <a:buNone/>
                      </a:pPr>
                      <a:r>
                        <a:rPr lang="en-US" sz="1200" dirty="0">
                          <a:solidFill>
                            <a:srgbClr val="222222"/>
                          </a:solidFill>
                          <a:latin typeface="Calibri" pitchFamily="34" charset="0"/>
                          <a:ea typeface="Calibri" pitchFamily="34" charset="-122"/>
                          <a:cs typeface="Calibri" pitchFamily="34" charset="-120"/>
                        </a:rPr>
                        <a:t>Scale</a:t>
                      </a:r>
                      <a:endParaRPr lang="en-US" sz="1200" dirty="0">
                        <a:latin typeface="Calibri" charset="0"/>
                        <a:ea typeface="Calibri" charset="0"/>
                        <a:cs typeface="Calibri" charset="0"/>
                      </a:endParaRPr>
                    </a:p>
                  </a:txBody>
                  <a:tcPr marL="73152" marR="73152" marT="45720" marB="45720" anchor="t">
                    <a:lnL w="12700" cap="flat" cmpd="sng" algn="ctr">
                      <a:solidFill>
                        <a:srgbClr val="A0A0A0"/>
                      </a:solidFill>
                      <a:prstDash val="solid"/>
                      <a:round/>
                      <a:headEnd type="none" w="med" len="med"/>
                      <a:tailEnd type="none" w="med" len="med"/>
                    </a:lnL>
                    <a:lnR w="12700" cap="flat" cmpd="sng" algn="ctr">
                      <a:solidFill>
                        <a:srgbClr val="A0A0A0"/>
                      </a:solidFill>
                      <a:prstDash val="solid"/>
                      <a:round/>
                      <a:headEnd type="none" w="med" len="med"/>
                      <a:tailEnd type="none" w="med" len="med"/>
                    </a:lnR>
                    <a:lnT w="12700" cap="flat" cmpd="sng" algn="ctr">
                      <a:solidFill>
                        <a:srgbClr val="A0A0A0"/>
                      </a:solidFill>
                      <a:prstDash val="solid"/>
                      <a:round/>
                      <a:headEnd type="none" w="med" len="med"/>
                      <a:tailEnd type="none" w="med" len="med"/>
                    </a:lnT>
                    <a:lnB w="12700" cap="flat" cmpd="sng" algn="ctr">
                      <a:solidFill>
                        <a:srgbClr val="A0A0A0"/>
                      </a:solidFill>
                      <a:prstDash val="solid"/>
                      <a:round/>
                      <a:headEnd type="none" w="med" len="med"/>
                      <a:tailEnd type="none" w="med" len="med"/>
                    </a:lnB>
                  </a:tcPr>
                </a:tc>
                <a:tc>
                  <a:txBody>
                    <a:bodyPr/>
                    <a:lstStyle/>
                    <a:p>
                      <a:pPr indent="0" marL="0">
                        <a:buNone/>
                      </a:pPr>
                      <a:r>
                        <a:rPr lang="en-US" sz="1200" dirty="0">
                          <a:solidFill>
                            <a:srgbClr val="222222"/>
                          </a:solidFill>
                          <a:latin typeface="Calibri" pitchFamily="34" charset="0"/>
                          <a:ea typeface="Calibri" pitchFamily="34" charset="-122"/>
                          <a:cs typeface="Calibri" pitchFamily="34" charset="-120"/>
                        </a:rPr>
                        <a:t>More hiring support, retention models, talent marketplace</a:t>
                      </a:r>
                      <a:endParaRPr lang="en-US" sz="1200" dirty="0">
                        <a:latin typeface="Calibri" charset="0"/>
                        <a:ea typeface="Calibri" charset="0"/>
                        <a:cs typeface="Calibri" charset="0"/>
                      </a:endParaRPr>
                    </a:p>
                  </a:txBody>
                  <a:tcPr marL="73152" marR="73152" marT="45720" marB="45720" anchor="t">
                    <a:lnL w="12700" cap="flat" cmpd="sng" algn="ctr">
                      <a:solidFill>
                        <a:srgbClr val="A0A0A0"/>
                      </a:solidFill>
                      <a:prstDash val="solid"/>
                      <a:round/>
                      <a:headEnd type="none" w="med" len="med"/>
                      <a:tailEnd type="none" w="med" len="med"/>
                    </a:lnL>
                    <a:lnR w="12700" cap="flat" cmpd="sng" algn="ctr">
                      <a:solidFill>
                        <a:srgbClr val="A0A0A0"/>
                      </a:solidFill>
                      <a:prstDash val="solid"/>
                      <a:round/>
                      <a:headEnd type="none" w="med" len="med"/>
                      <a:tailEnd type="none" w="med" len="med"/>
                    </a:lnR>
                    <a:lnT w="12700" cap="flat" cmpd="sng" algn="ctr">
                      <a:solidFill>
                        <a:srgbClr val="A0A0A0"/>
                      </a:solidFill>
                      <a:prstDash val="solid"/>
                      <a:round/>
                      <a:headEnd type="none" w="med" len="med"/>
                      <a:tailEnd type="none" w="med" len="med"/>
                    </a:lnT>
                    <a:lnB w="12700" cap="flat" cmpd="sng" algn="ctr">
                      <a:solidFill>
                        <a:srgbClr val="A0A0A0"/>
                      </a:solidFill>
                      <a:prstDash val="solid"/>
                      <a:round/>
                      <a:headEnd type="none" w="med" len="med"/>
                      <a:tailEnd type="none" w="med" len="med"/>
                    </a:lnB>
                  </a:tcPr>
                </a:tc>
              </a:tr>
              <a:tr h="502920">
                <a:tc>
                  <a:txBody>
                    <a:bodyPr/>
                    <a:lstStyle/>
                    <a:p>
                      <a:pPr indent="0" marL="0">
                        <a:buNone/>
                      </a:pPr>
                      <a:r>
                        <a:rPr lang="en-US" sz="1200" b="1" dirty="0">
                          <a:solidFill>
                            <a:srgbClr val="222222"/>
                          </a:solidFill>
                          <a:latin typeface="Calibri" pitchFamily="34" charset="0"/>
                          <a:ea typeface="Calibri" pitchFamily="34" charset="-122"/>
                          <a:cs typeface="Calibri" pitchFamily="34" charset="-120"/>
                        </a:rPr>
                        <a:t>18–36 months</a:t>
                      </a:r>
                      <a:endParaRPr lang="en-US" sz="1200" dirty="0">
                        <a:latin typeface="Calibri" charset="0"/>
                        <a:ea typeface="Calibri" charset="0"/>
                        <a:cs typeface="Calibri" charset="0"/>
                      </a:endParaRPr>
                    </a:p>
                  </a:txBody>
                  <a:tcPr marL="73152" marR="73152" marT="45720" marB="45720" anchor="t">
                    <a:lnL w="12700" cap="flat" cmpd="sng" algn="ctr">
                      <a:solidFill>
                        <a:srgbClr val="A0A0A0"/>
                      </a:solidFill>
                      <a:prstDash val="solid"/>
                      <a:round/>
                      <a:headEnd type="none" w="med" len="med"/>
                      <a:tailEnd type="none" w="med" len="med"/>
                    </a:lnL>
                    <a:lnR w="12700" cap="flat" cmpd="sng" algn="ctr">
                      <a:solidFill>
                        <a:srgbClr val="A0A0A0"/>
                      </a:solidFill>
                      <a:prstDash val="solid"/>
                      <a:round/>
                      <a:headEnd type="none" w="med" len="med"/>
                      <a:tailEnd type="none" w="med" len="med"/>
                    </a:lnR>
                    <a:lnT w="12700" cap="flat" cmpd="sng" algn="ctr">
                      <a:solidFill>
                        <a:srgbClr val="A0A0A0"/>
                      </a:solidFill>
                      <a:prstDash val="solid"/>
                      <a:round/>
                      <a:headEnd type="none" w="med" len="med"/>
                      <a:tailEnd type="none" w="med" len="med"/>
                    </a:lnT>
                    <a:lnB w="12700" cap="flat" cmpd="sng" algn="ctr">
                      <a:solidFill>
                        <a:srgbClr val="A0A0A0"/>
                      </a:solidFill>
                      <a:prstDash val="solid"/>
                      <a:round/>
                      <a:headEnd type="none" w="med" len="med"/>
                      <a:tailEnd type="none" w="med" len="med"/>
                    </a:lnB>
                    <a:solidFill>
                      <a:srgbClr val="EEF2F7"/>
                    </a:solidFill>
                  </a:tcPr>
                </a:tc>
                <a:tc>
                  <a:txBody>
                    <a:bodyPr/>
                    <a:lstStyle/>
                    <a:p>
                      <a:pPr indent="0" marL="0">
                        <a:buNone/>
                      </a:pPr>
                      <a:r>
                        <a:rPr lang="en-US" sz="1200" dirty="0">
                          <a:solidFill>
                            <a:srgbClr val="222222"/>
                          </a:solidFill>
                          <a:latin typeface="Calibri" pitchFamily="34" charset="0"/>
                          <a:ea typeface="Calibri" pitchFamily="34" charset="-122"/>
                          <a:cs typeface="Calibri" pitchFamily="34" charset="-120"/>
                        </a:rPr>
                        <a:t>Differentiate</a:t>
                      </a:r>
                      <a:endParaRPr lang="en-US" sz="1200" dirty="0">
                        <a:latin typeface="Calibri" charset="0"/>
                        <a:ea typeface="Calibri" charset="0"/>
                        <a:cs typeface="Calibri" charset="0"/>
                      </a:endParaRPr>
                    </a:p>
                  </a:txBody>
                  <a:tcPr marL="73152" marR="73152" marT="45720" marB="45720" anchor="t">
                    <a:lnL w="12700" cap="flat" cmpd="sng" algn="ctr">
                      <a:solidFill>
                        <a:srgbClr val="A0A0A0"/>
                      </a:solidFill>
                      <a:prstDash val="solid"/>
                      <a:round/>
                      <a:headEnd type="none" w="med" len="med"/>
                      <a:tailEnd type="none" w="med" len="med"/>
                    </a:lnL>
                    <a:lnR w="12700" cap="flat" cmpd="sng" algn="ctr">
                      <a:solidFill>
                        <a:srgbClr val="A0A0A0"/>
                      </a:solidFill>
                      <a:prstDash val="solid"/>
                      <a:round/>
                      <a:headEnd type="none" w="med" len="med"/>
                      <a:tailEnd type="none" w="med" len="med"/>
                    </a:lnR>
                    <a:lnT w="12700" cap="flat" cmpd="sng" algn="ctr">
                      <a:solidFill>
                        <a:srgbClr val="A0A0A0"/>
                      </a:solidFill>
                      <a:prstDash val="solid"/>
                      <a:round/>
                      <a:headEnd type="none" w="med" len="med"/>
                      <a:tailEnd type="none" w="med" len="med"/>
                    </a:lnT>
                    <a:lnB w="12700" cap="flat" cmpd="sng" algn="ctr">
                      <a:solidFill>
                        <a:srgbClr val="A0A0A0"/>
                      </a:solidFill>
                      <a:prstDash val="solid"/>
                      <a:round/>
                      <a:headEnd type="none" w="med" len="med"/>
                      <a:tailEnd type="none" w="med" len="med"/>
                    </a:lnB>
                  </a:tcPr>
                </a:tc>
                <a:tc>
                  <a:txBody>
                    <a:bodyPr/>
                    <a:lstStyle/>
                    <a:p>
                      <a:pPr indent="0" marL="0">
                        <a:buNone/>
                      </a:pPr>
                      <a:r>
                        <a:rPr lang="en-US" sz="1200" dirty="0">
                          <a:solidFill>
                            <a:srgbClr val="222222"/>
                          </a:solidFill>
                          <a:latin typeface="Calibri" pitchFamily="34" charset="0"/>
                          <a:ea typeface="Calibri" pitchFamily="34" charset="-122"/>
                          <a:cs typeface="Calibri" pitchFamily="34" charset="-120"/>
                        </a:rPr>
                        <a:t>Skills graph, workforce planning, external audit</a:t>
                      </a:r>
                      <a:endParaRPr lang="en-US" sz="1200" dirty="0">
                        <a:latin typeface="Calibri" charset="0"/>
                        <a:ea typeface="Calibri" charset="0"/>
                        <a:cs typeface="Calibri" charset="0"/>
                      </a:endParaRPr>
                    </a:p>
                  </a:txBody>
                  <a:tcPr marL="73152" marR="73152" marT="45720" marB="45720" anchor="t">
                    <a:lnL w="12700" cap="flat" cmpd="sng" algn="ctr">
                      <a:solidFill>
                        <a:srgbClr val="A0A0A0"/>
                      </a:solidFill>
                      <a:prstDash val="solid"/>
                      <a:round/>
                      <a:headEnd type="none" w="med" len="med"/>
                      <a:tailEnd type="none" w="med" len="med"/>
                    </a:lnL>
                    <a:lnR w="12700" cap="flat" cmpd="sng" algn="ctr">
                      <a:solidFill>
                        <a:srgbClr val="A0A0A0"/>
                      </a:solidFill>
                      <a:prstDash val="solid"/>
                      <a:round/>
                      <a:headEnd type="none" w="med" len="med"/>
                      <a:tailEnd type="none" w="med" len="med"/>
                    </a:lnR>
                    <a:lnT w="12700" cap="flat" cmpd="sng" algn="ctr">
                      <a:solidFill>
                        <a:srgbClr val="A0A0A0"/>
                      </a:solidFill>
                      <a:prstDash val="solid"/>
                      <a:round/>
                      <a:headEnd type="none" w="med" len="med"/>
                      <a:tailEnd type="none" w="med" len="med"/>
                    </a:lnT>
                    <a:lnB w="12700" cap="flat" cmpd="sng" algn="ctr">
                      <a:solidFill>
                        <a:srgbClr val="A0A0A0"/>
                      </a:solidFill>
                      <a:prstDash val="solid"/>
                      <a:round/>
                      <a:headEnd type="none" w="med" len="med"/>
                      <a:tailEnd type="none" w="med" len="med"/>
                    </a:lnB>
                  </a:tcPr>
                </a:tc>
              </a:tr>
            </a:tbl>
          </a:graphicData>
        </a:graphic>
      </p:graphicFrame>
      <p:sp>
        <p:nvSpPr>
          <p:cNvPr id="6" name="Text 3"/>
          <p:cNvSpPr txBox="1"/>
          <p:nvPr/>
        </p:nvSpPr>
        <p:spPr>
          <a:xfrm>
            <a:off x="5669280" y="914400"/>
            <a:ext cx="3017520" cy="274320"/>
          </a:xfrm>
          <a:prstGeom prst="rect">
            <a:avLst/>
          </a:prstGeom>
          <a:noFill/>
          <a:ln/>
        </p:spPr>
        <p:txBody>
          <a:bodyPr wrap="square" lIns="0" tIns="0" rIns="0" bIns="0" rtlCol="0" anchor="ctr"/>
          <a:lstStyle/>
          <a:p>
            <a:pPr indent="0" marL="0">
              <a:buNone/>
            </a:pPr>
            <a:r>
              <a:rPr lang="en-US" sz="1500" b="1" dirty="0">
                <a:solidFill>
                  <a:srgbClr val="1F3A5F"/>
                </a:solidFill>
                <a:latin typeface="Calibri" pitchFamily="34" charset="0"/>
                <a:ea typeface="Calibri" pitchFamily="34" charset="-122"/>
                <a:cs typeface="Calibri" pitchFamily="34" charset="-120"/>
              </a:rPr>
              <a:t>36-month targets</a:t>
            </a:r>
            <a:endParaRPr lang="en-US" sz="1500" dirty="0"/>
          </a:p>
        </p:txBody>
      </p:sp>
      <p:sp>
        <p:nvSpPr>
          <p:cNvPr id="7" name="Shape 4"/>
          <p:cNvSpPr/>
          <p:nvPr/>
        </p:nvSpPr>
        <p:spPr>
          <a:xfrm>
            <a:off x="5669280" y="1234440"/>
            <a:ext cx="1463040" cy="731520"/>
          </a:xfrm>
          <a:prstGeom prst="rect">
            <a:avLst/>
          </a:prstGeom>
          <a:solidFill>
            <a:srgbClr val="EEF2F7"/>
          </a:solidFill>
          <a:ln w="12700">
            <a:solidFill>
              <a:srgbClr val="1F3A5F"/>
            </a:solidFill>
            <a:prstDash val="solid"/>
          </a:ln>
        </p:spPr>
      </p:sp>
      <p:sp>
        <p:nvSpPr>
          <p:cNvPr id="8" name="Text 5"/>
          <p:cNvSpPr txBox="1"/>
          <p:nvPr/>
        </p:nvSpPr>
        <p:spPr>
          <a:xfrm>
            <a:off x="5669280" y="1234440"/>
            <a:ext cx="1463040" cy="731520"/>
          </a:xfrm>
          <a:prstGeom prst="rect">
            <a:avLst/>
          </a:prstGeom>
          <a:noFill/>
          <a:ln/>
        </p:spPr>
        <p:txBody>
          <a:bodyPr wrap="square" lIns="25400" tIns="25400" rIns="25400" bIns="25400" rtlCol="0" anchor="ctr"/>
          <a:lstStyle/>
          <a:p>
            <a:pPr algn="ctr" indent="0" marL="0">
              <a:buNone/>
            </a:pPr>
            <a:r>
              <a:rPr lang="en-US" sz="1800" b="1" dirty="0">
                <a:solidFill>
                  <a:srgbClr val="1F3A5F"/>
                </a:solidFill>
                <a:latin typeface="Calibri" pitchFamily="34" charset="0"/>
                <a:ea typeface="Calibri" pitchFamily="34" charset="-122"/>
                <a:cs typeface="Calibri" pitchFamily="34" charset="-120"/>
              </a:rPr>
              <a:t>−2 pp</a:t>
            </a:r>
            <a:endParaRPr lang="en-US" sz="1800" dirty="0"/>
          </a:p>
          <a:p>
            <a:pPr algn="ctr" indent="0" marL="0">
              <a:buNone/>
            </a:pPr>
            <a:r>
              <a:rPr lang="en-US" sz="1000" dirty="0">
                <a:solidFill>
                  <a:srgbClr val="222222"/>
                </a:solidFill>
                <a:latin typeface="Calibri" pitchFamily="34" charset="0"/>
                <a:ea typeface="Calibri" pitchFamily="34" charset="-122"/>
                <a:cs typeface="Calibri" pitchFamily="34" charset="-120"/>
              </a:rPr>
              <a:t>voluntary attrition</a:t>
            </a:r>
            <a:endParaRPr lang="en-US" sz="1800" dirty="0"/>
          </a:p>
        </p:txBody>
      </p:sp>
      <p:sp>
        <p:nvSpPr>
          <p:cNvPr id="9" name="Shape 6"/>
          <p:cNvSpPr/>
          <p:nvPr/>
        </p:nvSpPr>
        <p:spPr>
          <a:xfrm>
            <a:off x="7223760" y="1234440"/>
            <a:ext cx="1463040" cy="731520"/>
          </a:xfrm>
          <a:prstGeom prst="rect">
            <a:avLst/>
          </a:prstGeom>
          <a:solidFill>
            <a:srgbClr val="EEF2F7"/>
          </a:solidFill>
          <a:ln w="12700">
            <a:solidFill>
              <a:srgbClr val="1F3A5F"/>
            </a:solidFill>
            <a:prstDash val="solid"/>
          </a:ln>
        </p:spPr>
      </p:sp>
      <p:sp>
        <p:nvSpPr>
          <p:cNvPr id="10" name="Text 7"/>
          <p:cNvSpPr txBox="1"/>
          <p:nvPr/>
        </p:nvSpPr>
        <p:spPr>
          <a:xfrm>
            <a:off x="7223760" y="1234440"/>
            <a:ext cx="1463040" cy="731520"/>
          </a:xfrm>
          <a:prstGeom prst="rect">
            <a:avLst/>
          </a:prstGeom>
          <a:noFill/>
          <a:ln/>
        </p:spPr>
        <p:txBody>
          <a:bodyPr wrap="square" lIns="25400" tIns="25400" rIns="25400" bIns="25400" rtlCol="0" anchor="ctr"/>
          <a:lstStyle/>
          <a:p>
            <a:pPr algn="ctr" indent="0" marL="0">
              <a:buNone/>
            </a:pPr>
            <a:r>
              <a:rPr lang="en-US" sz="1800" b="1" dirty="0">
                <a:solidFill>
                  <a:srgbClr val="1F3A5F"/>
                </a:solidFill>
                <a:latin typeface="Calibri" pitchFamily="34" charset="0"/>
                <a:ea typeface="Calibri" pitchFamily="34" charset="-122"/>
                <a:cs typeface="Calibri" pitchFamily="34" charset="-120"/>
              </a:rPr>
              <a:t>−30%</a:t>
            </a:r>
            <a:endParaRPr lang="en-US" sz="1800" dirty="0"/>
          </a:p>
          <a:p>
            <a:pPr algn="ctr" indent="0" marL="0">
              <a:buNone/>
            </a:pPr>
            <a:r>
              <a:rPr lang="en-US" sz="1000" dirty="0">
                <a:solidFill>
                  <a:srgbClr val="222222"/>
                </a:solidFill>
                <a:latin typeface="Calibri" pitchFamily="34" charset="0"/>
                <a:ea typeface="Calibri" pitchFamily="34" charset="-122"/>
                <a:cs typeface="Calibri" pitchFamily="34" charset="-120"/>
              </a:rPr>
              <a:t>time-to-hire</a:t>
            </a:r>
            <a:endParaRPr lang="en-US" sz="1800" dirty="0"/>
          </a:p>
        </p:txBody>
      </p:sp>
      <p:sp>
        <p:nvSpPr>
          <p:cNvPr id="11" name="Shape 8"/>
          <p:cNvSpPr/>
          <p:nvPr/>
        </p:nvSpPr>
        <p:spPr>
          <a:xfrm>
            <a:off x="5669280" y="2057400"/>
            <a:ext cx="1463040" cy="731520"/>
          </a:xfrm>
          <a:prstGeom prst="rect">
            <a:avLst/>
          </a:prstGeom>
          <a:solidFill>
            <a:srgbClr val="EEF2F7"/>
          </a:solidFill>
          <a:ln w="12700">
            <a:solidFill>
              <a:srgbClr val="1F3A5F"/>
            </a:solidFill>
            <a:prstDash val="solid"/>
          </a:ln>
        </p:spPr>
      </p:sp>
      <p:sp>
        <p:nvSpPr>
          <p:cNvPr id="12" name="Text 9"/>
          <p:cNvSpPr txBox="1"/>
          <p:nvPr/>
        </p:nvSpPr>
        <p:spPr>
          <a:xfrm>
            <a:off x="5669280" y="2057400"/>
            <a:ext cx="1463040" cy="731520"/>
          </a:xfrm>
          <a:prstGeom prst="rect">
            <a:avLst/>
          </a:prstGeom>
          <a:noFill/>
          <a:ln/>
        </p:spPr>
        <p:txBody>
          <a:bodyPr wrap="square" lIns="25400" tIns="25400" rIns="25400" bIns="25400" rtlCol="0" anchor="ctr"/>
          <a:lstStyle/>
          <a:p>
            <a:pPr algn="ctr" indent="0" marL="0">
              <a:buNone/>
            </a:pPr>
            <a:r>
              <a:rPr lang="en-US" sz="1800" b="1" dirty="0">
                <a:solidFill>
                  <a:srgbClr val="1F3A5F"/>
                </a:solidFill>
                <a:latin typeface="Calibri" pitchFamily="34" charset="0"/>
                <a:ea typeface="Calibri" pitchFamily="34" charset="-122"/>
                <a:cs typeface="Calibri" pitchFamily="34" charset="-120"/>
              </a:rPr>
              <a:t>Up</a:t>
            </a:r>
            <a:endParaRPr lang="en-US" sz="1800" dirty="0"/>
          </a:p>
          <a:p>
            <a:pPr algn="ctr" indent="0" marL="0">
              <a:buNone/>
            </a:pPr>
            <a:r>
              <a:rPr lang="en-US" sz="1000" dirty="0">
                <a:solidFill>
                  <a:srgbClr val="222222"/>
                </a:solidFill>
                <a:latin typeface="Calibri" pitchFamily="34" charset="0"/>
                <a:ea typeface="Calibri" pitchFamily="34" charset="-122"/>
                <a:cs typeface="Calibri" pitchFamily="34" charset="-120"/>
              </a:rPr>
              <a:t>internal fills, engagement</a:t>
            </a:r>
            <a:endParaRPr lang="en-US" sz="1800" dirty="0"/>
          </a:p>
        </p:txBody>
      </p:sp>
      <p:sp>
        <p:nvSpPr>
          <p:cNvPr id="13" name="Shape 10"/>
          <p:cNvSpPr/>
          <p:nvPr/>
        </p:nvSpPr>
        <p:spPr>
          <a:xfrm>
            <a:off x="7223760" y="2057400"/>
            <a:ext cx="1463040" cy="731520"/>
          </a:xfrm>
          <a:prstGeom prst="rect">
            <a:avLst/>
          </a:prstGeom>
          <a:solidFill>
            <a:srgbClr val="EEF2F7"/>
          </a:solidFill>
          <a:ln w="12700">
            <a:solidFill>
              <a:srgbClr val="1F3A5F"/>
            </a:solidFill>
            <a:prstDash val="solid"/>
          </a:ln>
        </p:spPr>
      </p:sp>
      <p:sp>
        <p:nvSpPr>
          <p:cNvPr id="14" name="Text 11"/>
          <p:cNvSpPr txBox="1"/>
          <p:nvPr/>
        </p:nvSpPr>
        <p:spPr>
          <a:xfrm>
            <a:off x="7223760" y="2057400"/>
            <a:ext cx="1463040" cy="731520"/>
          </a:xfrm>
          <a:prstGeom prst="rect">
            <a:avLst/>
          </a:prstGeom>
          <a:noFill/>
          <a:ln/>
        </p:spPr>
        <p:txBody>
          <a:bodyPr wrap="square" lIns="25400" tIns="25400" rIns="25400" bIns="25400" rtlCol="0" anchor="ctr"/>
          <a:lstStyle/>
          <a:p>
            <a:pPr algn="ctr" indent="0" marL="0">
              <a:buNone/>
            </a:pPr>
            <a:r>
              <a:rPr lang="en-US" sz="1800" b="1" dirty="0">
                <a:solidFill>
                  <a:srgbClr val="1F3A5F"/>
                </a:solidFill>
                <a:latin typeface="Calibri" pitchFamily="34" charset="0"/>
                <a:ea typeface="Calibri" pitchFamily="34" charset="-122"/>
                <a:cs typeface="Calibri" pitchFamily="34" charset="-120"/>
              </a:rPr>
              <a:t>0</a:t>
            </a:r>
            <a:endParaRPr lang="en-US" sz="1800" dirty="0"/>
          </a:p>
          <a:p>
            <a:pPr algn="ctr" indent="0" marL="0">
              <a:buNone/>
            </a:pPr>
            <a:r>
              <a:rPr lang="en-US" sz="1000" dirty="0">
                <a:solidFill>
                  <a:srgbClr val="222222"/>
                </a:solidFill>
                <a:latin typeface="Calibri" pitchFamily="34" charset="0"/>
                <a:ea typeface="Calibri" pitchFamily="34" charset="-122"/>
                <a:cs typeface="Calibri" pitchFamily="34" charset="-120"/>
              </a:rPr>
              <a:t>unexplained adverse decisions</a:t>
            </a:r>
            <a:endParaRPr lang="en-US" sz="1800" dirty="0"/>
          </a:p>
        </p:txBody>
      </p:sp>
      <p:sp>
        <p:nvSpPr>
          <p:cNvPr id="15" name="Shape 12"/>
          <p:cNvSpPr/>
          <p:nvPr/>
        </p:nvSpPr>
        <p:spPr>
          <a:xfrm>
            <a:off x="457200" y="3063240"/>
            <a:ext cx="4023360" cy="914400"/>
          </a:xfrm>
          <a:prstGeom prst="rect">
            <a:avLst/>
          </a:prstGeom>
          <a:solidFill>
            <a:srgbClr val="EEF2F7"/>
          </a:solidFill>
          <a:ln w="12700">
            <a:solidFill>
              <a:srgbClr val="EEF2F7"/>
            </a:solidFill>
            <a:prstDash val="solid"/>
          </a:ln>
        </p:spPr>
      </p:sp>
      <p:sp>
        <p:nvSpPr>
          <p:cNvPr id="16" name="Shape 13"/>
          <p:cNvSpPr/>
          <p:nvPr/>
        </p:nvSpPr>
        <p:spPr>
          <a:xfrm>
            <a:off x="457200" y="3063240"/>
            <a:ext cx="73152" cy="914400"/>
          </a:xfrm>
          <a:prstGeom prst="rect">
            <a:avLst/>
          </a:prstGeom>
          <a:solidFill>
            <a:srgbClr val="2A7F8E"/>
          </a:solidFill>
          <a:ln w="12700">
            <a:solidFill>
              <a:srgbClr val="2A7F8E"/>
            </a:solidFill>
            <a:prstDash val="solid"/>
          </a:ln>
        </p:spPr>
      </p:sp>
      <p:sp>
        <p:nvSpPr>
          <p:cNvPr id="17" name="Text 14"/>
          <p:cNvSpPr txBox="1"/>
          <p:nvPr/>
        </p:nvSpPr>
        <p:spPr>
          <a:xfrm>
            <a:off x="640080" y="3063240"/>
            <a:ext cx="3749040" cy="914400"/>
          </a:xfrm>
          <a:prstGeom prst="rect">
            <a:avLst/>
          </a:prstGeom>
          <a:noFill/>
          <a:ln/>
        </p:spPr>
        <p:txBody>
          <a:bodyPr wrap="square" lIns="0" tIns="0" rIns="0" bIns="0" rtlCol="0" anchor="ctr"/>
          <a:lstStyle/>
          <a:p>
            <a:pPr indent="0" marL="0">
              <a:buNone/>
            </a:pPr>
            <a:r>
              <a:rPr lang="en-US" sz="1200" dirty="0">
                <a:solidFill>
                  <a:srgbClr val="222222"/>
                </a:solidFill>
                <a:latin typeface="Calibri" pitchFamily="34" charset="0"/>
                <a:ea typeface="Calibri" pitchFamily="34" charset="-122"/>
                <a:cs typeface="Calibri" pitchFamily="34" charset="-120"/>
              </a:rPr>
              <a:t>Illustrative ROI: 226% over 3 years, payback in about 13 months. Modelled estimate, not a forecast; check with company data.</a:t>
            </a:r>
            <a:endParaRPr lang="en-US" sz="1200" dirty="0"/>
          </a:p>
        </p:txBody>
      </p:sp>
      <p:sp>
        <p:nvSpPr>
          <p:cNvPr id="18" name="Shape 15"/>
          <p:cNvSpPr/>
          <p:nvPr/>
        </p:nvSpPr>
        <p:spPr>
          <a:xfrm>
            <a:off x="4663440" y="3063240"/>
            <a:ext cx="4023360" cy="914400"/>
          </a:xfrm>
          <a:prstGeom prst="rect">
            <a:avLst/>
          </a:prstGeom>
          <a:solidFill>
            <a:srgbClr val="EEF2F7"/>
          </a:solidFill>
          <a:ln w="12700">
            <a:solidFill>
              <a:srgbClr val="EEF2F7"/>
            </a:solidFill>
            <a:prstDash val="solid"/>
          </a:ln>
        </p:spPr>
      </p:sp>
      <p:sp>
        <p:nvSpPr>
          <p:cNvPr id="19" name="Shape 16"/>
          <p:cNvSpPr/>
          <p:nvPr/>
        </p:nvSpPr>
        <p:spPr>
          <a:xfrm>
            <a:off x="4663440" y="3063240"/>
            <a:ext cx="73152" cy="914400"/>
          </a:xfrm>
          <a:prstGeom prst="rect">
            <a:avLst/>
          </a:prstGeom>
          <a:solidFill>
            <a:srgbClr val="1F3A5F"/>
          </a:solidFill>
          <a:ln w="12700">
            <a:solidFill>
              <a:srgbClr val="1F3A5F"/>
            </a:solidFill>
            <a:prstDash val="solid"/>
          </a:ln>
        </p:spPr>
      </p:sp>
      <p:sp>
        <p:nvSpPr>
          <p:cNvPr id="20" name="Text 17"/>
          <p:cNvSpPr txBox="1"/>
          <p:nvPr/>
        </p:nvSpPr>
        <p:spPr>
          <a:xfrm>
            <a:off x="4846320" y="3063240"/>
            <a:ext cx="3749040" cy="914400"/>
          </a:xfrm>
          <a:prstGeom prst="rect">
            <a:avLst/>
          </a:prstGeom>
          <a:noFill/>
          <a:ln/>
        </p:spPr>
        <p:txBody>
          <a:bodyPr wrap="square" lIns="0" tIns="0" rIns="0" bIns="0" rtlCol="0" anchor="ctr"/>
          <a:lstStyle/>
          <a:p>
            <a:pPr indent="0" marL="0">
              <a:buNone/>
            </a:pPr>
            <a:r>
              <a:rPr lang="en-US" sz="1400" b="1" dirty="0">
                <a:solidFill>
                  <a:srgbClr val="222222"/>
                </a:solidFill>
                <a:latin typeface="Calibri" pitchFamily="34" charset="0"/>
                <a:ea typeface="Calibri" pitchFamily="34" charset="-122"/>
                <a:cs typeface="Calibri" pitchFamily="34" charset="-120"/>
              </a:rPr>
              <a:t>We recommend: readiness sprint + human-led pilots + ethics checks.</a:t>
            </a:r>
            <a:endParaRPr lang="en-US" sz="1400" dirty="0"/>
          </a:p>
        </p:txBody>
      </p:sp>
      <p:sp>
        <p:nvSpPr>
          <p:cNvPr id="21" name="Text 18"/>
          <p:cNvSpPr txBox="1"/>
          <p:nvPr/>
        </p:nvSpPr>
        <p:spPr>
          <a:xfrm>
            <a:off x="457200" y="4160520"/>
            <a:ext cx="8229600" cy="548640"/>
          </a:xfrm>
          <a:prstGeom prst="roundRect">
            <a:avLst>
              <a:gd name="adj" fmla="val 13333"/>
            </a:avLst>
          </a:prstGeom>
          <a:solidFill>
            <a:srgbClr val="1F3A5F"/>
          </a:solid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Thank you! Any questions?</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in HR and Talent Management</dc:title>
  <dc:subject>PptxGenJS Presentation</dc:subject>
  <dc:creator>Group 08</dc:creator>
  <cp:lastModifiedBy>Group 08</cp:lastModifiedBy>
  <cp:revision>1</cp:revision>
  <dcterms:created xsi:type="dcterms:W3CDTF">2026-10-18T13:33:01Z</dcterms:created>
  <dcterms:modified xsi:type="dcterms:W3CDTF">2026-10-18T13:33:01Z</dcterms:modified>
</cp:coreProperties>
</file>